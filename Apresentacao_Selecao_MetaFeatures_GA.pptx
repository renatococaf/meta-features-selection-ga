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Inte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6" name="SK-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700" y="609600"/>
            <a:ext cx="1612106" cy="228600"/>
          </a:xfrm>
          <a:prstGeom prst="rect">
            <a:avLst/>
          </a:prstGeom>
        </p:spPr>
      </p:pic>
      <p:pic>
        <p:nvPicPr>
          <p:cNvPr id="7" name="SK-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9056" y="609600"/>
            <a:ext cx="2617143" cy="228600"/>
          </a:xfrm>
          <a:prstGeom prst="rect">
            <a:avLst/>
          </a:prstGeom>
        </p:spPr>
      </p:pic>
      <p:pic>
        <p:nvPicPr>
          <p:cNvPr id="8" name="SK-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1700" y="4183261"/>
            <a:ext cx="533400" cy="28575"/>
          </a:xfrm>
          <a:prstGeom prst="rect">
            <a:avLst/>
          </a:prstGeom>
        </p:spPr>
      </p:pic>
      <p:pic>
        <p:nvPicPr>
          <p:cNvPr id="9" name="SK-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1700" y="5853113"/>
            <a:ext cx="5524500" cy="9525"/>
          </a:xfrm>
          <a:prstGeom prst="rect">
            <a:avLst/>
          </a:prstGeom>
        </p:spPr>
      </p:pic>
      <p:pic>
        <p:nvPicPr>
          <p:cNvPr id="10" name="SK-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8175" y="6026944"/>
            <a:ext cx="9525" cy="342900"/>
          </a:xfrm>
          <a:prstGeom prst="rect">
            <a:avLst/>
          </a:prstGeom>
        </p:spPr>
      </p:pic>
      <p:sp>
        <p:nvSpPr>
          <p:cNvPr id="11" name="SK-1-text-10"/>
          <p:cNvSpPr/>
          <p:nvPr/>
        </p:nvSpPr>
        <p:spPr>
          <a:xfrm>
            <a:off x="6076950" y="609600"/>
            <a:ext cx="21323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4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META-APRENDIZAGEM</a:t>
            </a:r>
            <a:endParaRPr lang="en-US" sz="900" dirty="0"/>
          </a:p>
        </p:txBody>
      </p:sp>
      <p:sp>
        <p:nvSpPr>
          <p:cNvPr id="12" name="SK-1-text-11"/>
          <p:cNvSpPr/>
          <p:nvPr/>
        </p:nvSpPr>
        <p:spPr>
          <a:xfrm>
            <a:off x="7784306" y="609600"/>
            <a:ext cx="43577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43" kern="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 4 — PROJETO FINAL INDIVIDUAL</a:t>
            </a:r>
            <a:endParaRPr lang="en-US" sz="900" dirty="0"/>
          </a:p>
        </p:txBody>
      </p:sp>
      <p:sp>
        <p:nvSpPr>
          <p:cNvPr id="13" name="SK-1-text-12"/>
          <p:cNvSpPr/>
          <p:nvPr/>
        </p:nvSpPr>
        <p:spPr>
          <a:xfrm>
            <a:off x="5981700" y="1104900"/>
            <a:ext cx="5524500" cy="28497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610"/>
              </a:lnSpc>
              <a:buNone/>
            </a:pPr>
            <a:r>
              <a:rPr lang="en-US" sz="5100" b="1" spc="-82" kern="0" dirty="0">
                <a:solidFill>
                  <a:srgbClr val="0F172A"/>
                </a:solidFill>
              </a:rPr>
              <a:t>Seleção de</a:t>
            </a:r>
            <a:endParaRPr lang="en-US" sz="5100" dirty="0"/>
          </a:p>
          <a:p>
            <a:pPr indent="0" marL="0">
              <a:lnSpc>
                <a:spcPts val="5610"/>
              </a:lnSpc>
              <a:buNone/>
            </a:pPr>
            <a:r>
              <a:rPr lang="en-US" sz="5100" b="1" spc="-82" kern="0" dirty="0">
                <a:solidFill>
                  <a:srgbClr val="2563EB"/>
                </a:solidFill>
              </a:rPr>
              <a:t>Meta-Features</a:t>
            </a:r>
            <a:endParaRPr lang="en-US" sz="5100" dirty="0"/>
          </a:p>
          <a:p>
            <a:pPr indent="0" marL="0">
              <a:lnSpc>
                <a:spcPts val="5610"/>
              </a:lnSpc>
              <a:buNone/>
            </a:pPr>
            <a:r>
              <a:rPr lang="en-US" sz="5100" b="1" spc="-82" kern="0" dirty="0">
                <a:solidFill>
                  <a:srgbClr val="0F172A"/>
                </a:solidFill>
              </a:rPr>
              <a:t>com Algoritmo</a:t>
            </a:r>
            <a:endParaRPr lang="en-US" sz="5100" dirty="0"/>
          </a:p>
          <a:p>
            <a:pPr indent="0" marL="0">
              <a:lnSpc>
                <a:spcPts val="5610"/>
              </a:lnSpc>
              <a:buNone/>
            </a:pPr>
            <a:r>
              <a:rPr lang="en-US" sz="5100" b="1" spc="-82" kern="0" dirty="0">
                <a:solidFill>
                  <a:srgbClr val="0F172A"/>
                </a:solidFill>
              </a:rPr>
              <a:t>Genético</a:t>
            </a:r>
            <a:endParaRPr lang="en-US" sz="5100" dirty="0"/>
          </a:p>
        </p:txBody>
      </p:sp>
      <p:sp>
        <p:nvSpPr>
          <p:cNvPr id="14" name="SK-1-text-13"/>
          <p:cNvSpPr/>
          <p:nvPr/>
        </p:nvSpPr>
        <p:spPr>
          <a:xfrm>
            <a:off x="5981700" y="4364236"/>
            <a:ext cx="62103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Individual — IC · UFAL</a:t>
            </a:r>
            <a:endParaRPr lang="en-US" sz="1800" dirty="0"/>
          </a:p>
        </p:txBody>
      </p:sp>
      <p:sp>
        <p:nvSpPr>
          <p:cNvPr id="15" name="SK-1-text-14"/>
          <p:cNvSpPr/>
          <p:nvPr/>
        </p:nvSpPr>
        <p:spPr>
          <a:xfrm>
            <a:off x="5981700" y="5995988"/>
            <a:ext cx="21240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spc="5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</a:t>
            </a:r>
            <a:endParaRPr lang="en-US" sz="825" dirty="0"/>
          </a:p>
        </p:txBody>
      </p:sp>
      <p:sp>
        <p:nvSpPr>
          <p:cNvPr id="16" name="SK-1-text-15"/>
          <p:cNvSpPr/>
          <p:nvPr/>
        </p:nvSpPr>
        <p:spPr>
          <a:xfrm>
            <a:off x="5981700" y="6172200"/>
            <a:ext cx="5013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Renato Coca Terrazas Freire</a:t>
            </a:r>
            <a:endParaRPr lang="en-US" sz="1200" dirty="0"/>
          </a:p>
        </p:txBody>
      </p:sp>
      <p:sp>
        <p:nvSpPr>
          <p:cNvPr id="17" name="SK-1-text-16"/>
          <p:cNvSpPr/>
          <p:nvPr/>
        </p:nvSpPr>
        <p:spPr>
          <a:xfrm>
            <a:off x="8496300" y="5995988"/>
            <a:ext cx="15049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spc="5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ORIENTADOR</a:t>
            </a:r>
            <a:endParaRPr lang="en-US" sz="825" dirty="0"/>
          </a:p>
        </p:txBody>
      </p:sp>
      <p:sp>
        <p:nvSpPr>
          <p:cNvPr id="18" name="SK-1-text-17"/>
          <p:cNvSpPr/>
          <p:nvPr/>
        </p:nvSpPr>
        <p:spPr>
          <a:xfrm>
            <a:off x="8496300" y="6172200"/>
            <a:ext cx="336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Lucas Amorim</a:t>
            </a:r>
            <a:endParaRPr lang="en-US" sz="1200" dirty="0"/>
          </a:p>
        </p:txBody>
      </p:sp>
      <p:sp>
        <p:nvSpPr>
          <p:cNvPr id="19" name="SK-1-text-18"/>
          <p:cNvSpPr/>
          <p:nvPr/>
        </p:nvSpPr>
        <p:spPr>
          <a:xfrm>
            <a:off x="10401300" y="5995988"/>
            <a:ext cx="1181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spc="53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825" dirty="0"/>
          </a:p>
        </p:txBody>
      </p:sp>
      <p:sp>
        <p:nvSpPr>
          <p:cNvPr id="20" name="SK-1-text-19"/>
          <p:cNvSpPr/>
          <p:nvPr/>
        </p:nvSpPr>
        <p:spPr>
          <a:xfrm>
            <a:off x="10401300" y="61722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Junho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45840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558504" cy="2095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50640"/>
            <a:ext cx="5372100" cy="4850160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822103"/>
            <a:ext cx="285750" cy="228600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655665"/>
            <a:ext cx="4914900" cy="7715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550640"/>
            <a:ext cx="5372100" cy="4850160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822103"/>
            <a:ext cx="285750" cy="228600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655665"/>
            <a:ext cx="2400300" cy="7715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3806" y="4086523"/>
            <a:ext cx="166688" cy="137220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1600" y="3655665"/>
            <a:ext cx="2400300" cy="7715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28932" y="4086523"/>
            <a:ext cx="166688" cy="137220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4693890"/>
            <a:ext cx="4914900" cy="290513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4770834"/>
            <a:ext cx="178594" cy="148828"/>
          </a:xfrm>
          <a:prstGeom prst="rect">
            <a:avLst/>
          </a:prstGeom>
        </p:spPr>
      </p:pic>
      <p:sp>
        <p:nvSpPr>
          <p:cNvPr id="17" name="SK-2-text-16"/>
          <p:cNvSpPr/>
          <p:nvPr/>
        </p:nvSpPr>
        <p:spPr>
          <a:xfrm>
            <a:off x="647700" y="381000"/>
            <a:ext cx="4074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META-APRENDIZAGEM</a:t>
            </a:r>
            <a:endParaRPr lang="en-US" sz="900" dirty="0"/>
          </a:p>
        </p:txBody>
      </p:sp>
      <p:sp>
        <p:nvSpPr>
          <p:cNvPr id="18" name="SK-2-text-17"/>
          <p:cNvSpPr/>
          <p:nvPr/>
        </p:nvSpPr>
        <p:spPr>
          <a:xfrm>
            <a:off x="571500" y="666750"/>
            <a:ext cx="11210925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</a:rPr>
              <a:t>Motivação e Objetivo</a:t>
            </a:r>
            <a:endParaRPr lang="en-US" sz="2550" dirty="0"/>
          </a:p>
        </p:txBody>
      </p:sp>
      <p:sp>
        <p:nvSpPr>
          <p:cNvPr id="19" name="SK-2-text-18"/>
          <p:cNvSpPr/>
          <p:nvPr/>
        </p:nvSpPr>
        <p:spPr>
          <a:xfrm>
            <a:off x="1200150" y="1779240"/>
            <a:ext cx="43795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F172A"/>
                </a:solidFill>
              </a:rPr>
              <a:t>O Desafio Técnico</a:t>
            </a:r>
            <a:endParaRPr lang="en-US" sz="1650" dirty="0"/>
          </a:p>
        </p:txBody>
      </p:sp>
      <p:sp>
        <p:nvSpPr>
          <p:cNvPr id="20" name="SK-2-text-19"/>
          <p:cNvSpPr/>
          <p:nvPr/>
        </p:nvSpPr>
        <p:spPr>
          <a:xfrm>
            <a:off x="800100" y="2245965"/>
            <a:ext cx="4914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Contexto: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Aprender qual algoritmo apresenta o melhor desempenho para um dataset específico.</a:t>
            </a:r>
            <a:endParaRPr lang="en-US" sz="1350" dirty="0"/>
          </a:p>
        </p:txBody>
      </p:sp>
      <p:sp>
        <p:nvSpPr>
          <p:cNvPr id="21" name="SK-2-text-20"/>
          <p:cNvSpPr/>
          <p:nvPr/>
        </p:nvSpPr>
        <p:spPr>
          <a:xfrm>
            <a:off x="800100" y="2912715"/>
            <a:ext cx="4914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Problema: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uso de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224 meta-features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introduz ruído e redundância, prejudicando a eficiência.</a:t>
            </a:r>
            <a:endParaRPr lang="en-US" sz="1350" dirty="0"/>
          </a:p>
        </p:txBody>
      </p:sp>
      <p:sp>
        <p:nvSpPr>
          <p:cNvPr id="22" name="SK-2-text-21"/>
          <p:cNvSpPr/>
          <p:nvPr/>
        </p:nvSpPr>
        <p:spPr>
          <a:xfrm>
            <a:off x="952500" y="3655665"/>
            <a:ext cx="47625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Hipótese: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seleção de um subconjunto ótimo reduz a complexidade e melhora a qualidade preditiva do meta-modelo.</a:t>
            </a:r>
            <a:endParaRPr lang="en-US" sz="1350" dirty="0"/>
          </a:p>
        </p:txBody>
      </p:sp>
      <p:sp>
        <p:nvSpPr>
          <p:cNvPr id="23" name="SK-2-text-22"/>
          <p:cNvSpPr/>
          <p:nvPr/>
        </p:nvSpPr>
        <p:spPr>
          <a:xfrm>
            <a:off x="6877050" y="1779240"/>
            <a:ext cx="437959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F172A"/>
                </a:solidFill>
              </a:rPr>
              <a:t>Objetivo e Escopo</a:t>
            </a:r>
            <a:endParaRPr lang="en-US" sz="1650" dirty="0"/>
          </a:p>
        </p:txBody>
      </p:sp>
      <p:sp>
        <p:nvSpPr>
          <p:cNvPr id="24" name="SK-2-text-23"/>
          <p:cNvSpPr/>
          <p:nvPr/>
        </p:nvSpPr>
        <p:spPr>
          <a:xfrm>
            <a:off x="6477000" y="2245965"/>
            <a:ext cx="4914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Principal: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Aplicar um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 Genético (GA)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identificar o subconjunto ideal de meta-features.</a:t>
            </a:r>
            <a:endParaRPr lang="en-US" sz="1350" dirty="0"/>
          </a:p>
        </p:txBody>
      </p:sp>
      <p:sp>
        <p:nvSpPr>
          <p:cNvPr id="25" name="SK-2-text-24"/>
          <p:cNvSpPr/>
          <p:nvPr/>
        </p:nvSpPr>
        <p:spPr>
          <a:xfrm>
            <a:off x="6477000" y="2912715"/>
            <a:ext cx="49149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de Partida: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Evolução do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3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disciplina, expandindo a escala do experimento:</a:t>
            </a:r>
            <a:endParaRPr lang="en-US" sz="1350" dirty="0"/>
          </a:p>
        </p:txBody>
      </p:sp>
      <p:sp>
        <p:nvSpPr>
          <p:cNvPr id="26" name="SK-2-text-25"/>
          <p:cNvSpPr/>
          <p:nvPr/>
        </p:nvSpPr>
        <p:spPr>
          <a:xfrm>
            <a:off x="6553200" y="3769965"/>
            <a:ext cx="2247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DATASETS</a:t>
            </a:r>
            <a:endParaRPr lang="en-US" sz="1050" dirty="0"/>
          </a:p>
        </p:txBody>
      </p:sp>
      <p:sp>
        <p:nvSpPr>
          <p:cNvPr id="27" name="SK-2-text-26"/>
          <p:cNvSpPr/>
          <p:nvPr/>
        </p:nvSpPr>
        <p:spPr>
          <a:xfrm>
            <a:off x="6591300" y="3969990"/>
            <a:ext cx="2171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172A"/>
                </a:solidFill>
              </a:rPr>
              <a:t>22 </a:t>
            </a:r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172A"/>
                </a:solidFill>
              </a:rPr>
              <a:t> 35</a:t>
            </a:r>
            <a:endParaRPr lang="en-US" sz="1800" dirty="0"/>
          </a:p>
        </p:txBody>
      </p:sp>
      <p:sp>
        <p:nvSpPr>
          <p:cNvPr id="28" name="SK-2-text-27"/>
          <p:cNvSpPr/>
          <p:nvPr/>
        </p:nvSpPr>
        <p:spPr>
          <a:xfrm>
            <a:off x="9067800" y="3769965"/>
            <a:ext cx="22479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META-FEATURES</a:t>
            </a:r>
            <a:endParaRPr lang="en-US" sz="1050" dirty="0"/>
          </a:p>
        </p:txBody>
      </p:sp>
      <p:sp>
        <p:nvSpPr>
          <p:cNvPr id="29" name="SK-2-text-28"/>
          <p:cNvSpPr/>
          <p:nvPr/>
        </p:nvSpPr>
        <p:spPr>
          <a:xfrm>
            <a:off x="9105900" y="3969990"/>
            <a:ext cx="2171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172A"/>
                </a:solidFill>
              </a:rPr>
              <a:t>56 </a:t>
            </a:r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172A"/>
                </a:solidFill>
              </a:rPr>
              <a:t> 224</a:t>
            </a:r>
            <a:endParaRPr lang="en-US" sz="1800" dirty="0"/>
          </a:p>
        </p:txBody>
      </p:sp>
      <p:sp>
        <p:nvSpPr>
          <p:cNvPr id="30" name="SK-2-text-29"/>
          <p:cNvSpPr/>
          <p:nvPr/>
        </p:nvSpPr>
        <p:spPr>
          <a:xfrm>
            <a:off x="6827044" y="4693890"/>
            <a:ext cx="5364956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563EB"/>
                </a:solidFill>
              </a:rPr>
              <a:t> Foco em Otimização de Meta-modelos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45840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558504" cy="209550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31590"/>
            <a:ext cx="3115270" cy="4945410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683990"/>
            <a:ext cx="2810470" cy="361950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739205"/>
            <a:ext cx="214313" cy="175320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241923"/>
            <a:ext cx="1357610" cy="676275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6760" y="3241923"/>
            <a:ext cx="1357610" cy="676275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5370" y="1531590"/>
            <a:ext cx="4361259" cy="4945410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7770" y="1683990"/>
            <a:ext cx="4056459" cy="361950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7770" y="1739205"/>
            <a:ext cx="214313" cy="175320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67770" y="2449711"/>
            <a:ext cx="1990130" cy="300930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34100" y="2449711"/>
            <a:ext cx="1990130" cy="300930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67770" y="2826841"/>
            <a:ext cx="1990130" cy="300930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34100" y="2826841"/>
            <a:ext cx="1990130" cy="300930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67770" y="3203972"/>
            <a:ext cx="4056459" cy="300930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86820" y="3965823"/>
            <a:ext cx="542925" cy="262830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44045" y="3965823"/>
            <a:ext cx="371475" cy="262830"/>
          </a:xfrm>
          <a:prstGeom prst="rect">
            <a:avLst/>
          </a:prstGeom>
        </p:spPr>
      </p:pic>
      <p:pic>
        <p:nvPicPr>
          <p:cNvPr id="21" name="SK-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29820" y="3965823"/>
            <a:ext cx="428625" cy="262830"/>
          </a:xfrm>
          <a:prstGeom prst="rect">
            <a:avLst/>
          </a:prstGeom>
        </p:spPr>
      </p:pic>
      <p:pic>
        <p:nvPicPr>
          <p:cNvPr id="22" name="SK-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72745" y="3965823"/>
            <a:ext cx="466725" cy="262830"/>
          </a:xfrm>
          <a:prstGeom prst="rect">
            <a:avLst/>
          </a:prstGeom>
        </p:spPr>
      </p:pic>
      <p:pic>
        <p:nvPicPr>
          <p:cNvPr id="23" name="SK-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67770" y="4400104"/>
            <a:ext cx="4056459" cy="487561"/>
          </a:xfrm>
          <a:prstGeom prst="rect">
            <a:avLst/>
          </a:prstGeom>
        </p:spPr>
      </p:pic>
      <p:pic>
        <p:nvPicPr>
          <p:cNvPr id="24" name="SK-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05230" y="1531590"/>
            <a:ext cx="3115270" cy="4945410"/>
          </a:xfrm>
          <a:prstGeom prst="rect">
            <a:avLst/>
          </a:prstGeom>
        </p:spPr>
      </p:pic>
      <p:pic>
        <p:nvPicPr>
          <p:cNvPr id="25" name="SK-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657630" y="1683990"/>
            <a:ext cx="2810470" cy="361950"/>
          </a:xfrm>
          <a:prstGeom prst="rect">
            <a:avLst/>
          </a:prstGeom>
        </p:spPr>
      </p:pic>
      <p:pic>
        <p:nvPicPr>
          <p:cNvPr id="26" name="SK-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57630" y="1739205"/>
            <a:ext cx="214313" cy="175320"/>
          </a:xfrm>
          <a:prstGeom prst="rect">
            <a:avLst/>
          </a:prstGeom>
        </p:spPr>
      </p:pic>
      <p:pic>
        <p:nvPicPr>
          <p:cNvPr id="27" name="SK-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676680" y="2468761"/>
            <a:ext cx="1009650" cy="262830"/>
          </a:xfrm>
          <a:prstGeom prst="rect">
            <a:avLst/>
          </a:prstGeom>
        </p:spPr>
      </p:pic>
      <p:pic>
        <p:nvPicPr>
          <p:cNvPr id="28" name="SK-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762530" y="2468761"/>
            <a:ext cx="495300" cy="262830"/>
          </a:xfrm>
          <a:prstGeom prst="rect">
            <a:avLst/>
          </a:prstGeom>
        </p:spPr>
      </p:pic>
      <p:pic>
        <p:nvPicPr>
          <p:cNvPr id="29" name="SK-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334030" y="2468761"/>
            <a:ext cx="495300" cy="262830"/>
          </a:xfrm>
          <a:prstGeom prst="rect">
            <a:avLst/>
          </a:prstGeom>
        </p:spPr>
      </p:pic>
      <p:pic>
        <p:nvPicPr>
          <p:cNvPr id="30" name="SK-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76680" y="2807791"/>
            <a:ext cx="676275" cy="262830"/>
          </a:xfrm>
          <a:prstGeom prst="rect">
            <a:avLst/>
          </a:prstGeom>
        </p:spPr>
      </p:pic>
      <p:pic>
        <p:nvPicPr>
          <p:cNvPr id="31" name="SK-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429155" y="2807791"/>
            <a:ext cx="885825" cy="262830"/>
          </a:xfrm>
          <a:prstGeom prst="rect">
            <a:avLst/>
          </a:prstGeom>
        </p:spPr>
      </p:pic>
      <p:pic>
        <p:nvPicPr>
          <p:cNvPr id="32" name="SK-3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391180" y="2807791"/>
            <a:ext cx="476250" cy="262830"/>
          </a:xfrm>
          <a:prstGeom prst="rect">
            <a:avLst/>
          </a:prstGeom>
        </p:spPr>
      </p:pic>
      <p:pic>
        <p:nvPicPr>
          <p:cNvPr id="33" name="SK-3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57630" y="3299222"/>
            <a:ext cx="2810470" cy="827484"/>
          </a:xfrm>
          <a:prstGeom prst="rect">
            <a:avLst/>
          </a:prstGeom>
        </p:spPr>
      </p:pic>
      <p:pic>
        <p:nvPicPr>
          <p:cNvPr id="34" name="SK-3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57630" y="4374505"/>
            <a:ext cx="166688" cy="137220"/>
          </a:xfrm>
          <a:prstGeom prst="rect">
            <a:avLst/>
          </a:prstGeom>
        </p:spPr>
      </p:pic>
      <p:sp>
        <p:nvSpPr>
          <p:cNvPr id="35" name="SK-3-text-34"/>
          <p:cNvSpPr/>
          <p:nvPr/>
        </p:nvSpPr>
        <p:spPr>
          <a:xfrm>
            <a:off x="647700" y="381000"/>
            <a:ext cx="4074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META-APRENDIZAGEM</a:t>
            </a:r>
            <a:endParaRPr lang="en-US" sz="900" dirty="0"/>
          </a:p>
        </p:txBody>
      </p:sp>
      <p:sp>
        <p:nvSpPr>
          <p:cNvPr id="36" name="SK-3-text-35"/>
          <p:cNvSpPr/>
          <p:nvPr/>
        </p:nvSpPr>
        <p:spPr>
          <a:xfrm>
            <a:off x="571500" y="666750"/>
            <a:ext cx="11210925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</a:rPr>
              <a:t>Construção do Meta-Dataset</a:t>
            </a:r>
            <a:endParaRPr lang="en-US" sz="2550" dirty="0"/>
          </a:p>
        </p:txBody>
      </p:sp>
      <p:sp>
        <p:nvSpPr>
          <p:cNvPr id="37" name="SK-3-text-36"/>
          <p:cNvSpPr/>
          <p:nvPr/>
        </p:nvSpPr>
        <p:spPr>
          <a:xfrm>
            <a:off x="1033462" y="1683990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</a:rPr>
              <a:t>Fontes de Dados</a:t>
            </a:r>
            <a:endParaRPr lang="en-US" sz="1500" dirty="0"/>
          </a:p>
        </p:txBody>
      </p:sp>
      <p:sp>
        <p:nvSpPr>
          <p:cNvPr id="38" name="SK-3-text-37"/>
          <p:cNvSpPr/>
          <p:nvPr/>
        </p:nvSpPr>
        <p:spPr>
          <a:xfrm>
            <a:off x="723900" y="2160240"/>
            <a:ext cx="281047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A: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 datasets do Exemplo 3 (via OpenML).</a:t>
            </a:r>
            <a:endParaRPr lang="en-US" sz="1200" dirty="0"/>
          </a:p>
        </p:txBody>
      </p:sp>
      <p:sp>
        <p:nvSpPr>
          <p:cNvPr id="39" name="SK-3-text-38"/>
          <p:cNvSpPr/>
          <p:nvPr/>
        </p:nvSpPr>
        <p:spPr>
          <a:xfrm>
            <a:off x="723900" y="2662982"/>
            <a:ext cx="281047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B: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15 datasets da suite OpenML-CC18.</a:t>
            </a:r>
            <a:endParaRPr lang="en-US" sz="1200" dirty="0"/>
          </a:p>
        </p:txBody>
      </p:sp>
      <p:sp>
        <p:nvSpPr>
          <p:cNvPr id="40" name="SK-3-text-39"/>
          <p:cNvSpPr/>
          <p:nvPr/>
        </p:nvSpPr>
        <p:spPr>
          <a:xfrm>
            <a:off x="766763" y="3337173"/>
            <a:ext cx="12718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563EB"/>
                </a:solidFill>
              </a:rPr>
              <a:t>35</a:t>
            </a:r>
            <a:endParaRPr lang="en-US" sz="1650" dirty="0"/>
          </a:p>
        </p:txBody>
      </p:sp>
      <p:sp>
        <p:nvSpPr>
          <p:cNvPr id="41" name="SK-3-text-40"/>
          <p:cNvSpPr/>
          <p:nvPr/>
        </p:nvSpPr>
        <p:spPr>
          <a:xfrm>
            <a:off x="781050" y="3651498"/>
            <a:ext cx="1243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DATASETS</a:t>
            </a:r>
            <a:endParaRPr lang="en-US" sz="900" dirty="0"/>
          </a:p>
        </p:txBody>
      </p:sp>
      <p:sp>
        <p:nvSpPr>
          <p:cNvPr id="42" name="SK-3-text-41"/>
          <p:cNvSpPr/>
          <p:nvPr/>
        </p:nvSpPr>
        <p:spPr>
          <a:xfrm>
            <a:off x="2219623" y="3337173"/>
            <a:ext cx="127188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563EB"/>
                </a:solidFill>
              </a:rPr>
              <a:t>224</a:t>
            </a:r>
            <a:endParaRPr lang="en-US" sz="1650" dirty="0"/>
          </a:p>
        </p:txBody>
      </p:sp>
      <p:sp>
        <p:nvSpPr>
          <p:cNvPr id="43" name="SK-3-text-42"/>
          <p:cNvSpPr/>
          <p:nvPr/>
        </p:nvSpPr>
        <p:spPr>
          <a:xfrm>
            <a:off x="2233910" y="3651498"/>
            <a:ext cx="1243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META-FEATURES</a:t>
            </a:r>
            <a:endParaRPr lang="en-US" sz="900" dirty="0"/>
          </a:p>
        </p:txBody>
      </p:sp>
      <p:sp>
        <p:nvSpPr>
          <p:cNvPr id="44" name="SK-3-text-43"/>
          <p:cNvSpPr/>
          <p:nvPr/>
        </p:nvSpPr>
        <p:spPr>
          <a:xfrm>
            <a:off x="4377333" y="1683990"/>
            <a:ext cx="3752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</a:rPr>
              <a:t>Extração (pymfe)</a:t>
            </a:r>
            <a:endParaRPr lang="en-US" sz="1500" dirty="0"/>
          </a:p>
        </p:txBody>
      </p:sp>
      <p:sp>
        <p:nvSpPr>
          <p:cNvPr id="45" name="SK-3-text-44"/>
          <p:cNvSpPr/>
          <p:nvPr/>
        </p:nvSpPr>
        <p:spPr>
          <a:xfrm>
            <a:off x="4067770" y="2169765"/>
            <a:ext cx="4282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Categorias de Features:</a:t>
            </a:r>
            <a:endParaRPr lang="en-US" sz="1200" dirty="0"/>
          </a:p>
        </p:txBody>
      </p:sp>
      <p:sp>
        <p:nvSpPr>
          <p:cNvPr id="46" name="SK-3-text-45"/>
          <p:cNvSpPr/>
          <p:nvPr/>
        </p:nvSpPr>
        <p:spPr>
          <a:xfrm>
            <a:off x="4124920" y="2449711"/>
            <a:ext cx="1952030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</a:t>
            </a:r>
            <a:endParaRPr lang="en-US" sz="1050" dirty="0"/>
          </a:p>
        </p:txBody>
      </p:sp>
      <p:sp>
        <p:nvSpPr>
          <p:cNvPr id="47" name="SK-3-text-46"/>
          <p:cNvSpPr/>
          <p:nvPr/>
        </p:nvSpPr>
        <p:spPr>
          <a:xfrm>
            <a:off x="6191250" y="2449711"/>
            <a:ext cx="1952030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</a:t>
            </a:r>
            <a:endParaRPr lang="en-US" sz="1050" dirty="0"/>
          </a:p>
        </p:txBody>
      </p:sp>
      <p:sp>
        <p:nvSpPr>
          <p:cNvPr id="48" name="SK-3-text-47"/>
          <p:cNvSpPr/>
          <p:nvPr/>
        </p:nvSpPr>
        <p:spPr>
          <a:xfrm>
            <a:off x="4124920" y="2826841"/>
            <a:ext cx="1952030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Info-theory</a:t>
            </a:r>
            <a:endParaRPr lang="en-US" sz="1050" dirty="0"/>
          </a:p>
        </p:txBody>
      </p:sp>
      <p:sp>
        <p:nvSpPr>
          <p:cNvPr id="49" name="SK-3-text-48"/>
          <p:cNvSpPr/>
          <p:nvPr/>
        </p:nvSpPr>
        <p:spPr>
          <a:xfrm>
            <a:off x="6191250" y="2826841"/>
            <a:ext cx="1952030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Model-based</a:t>
            </a:r>
            <a:endParaRPr lang="en-US" sz="1050" dirty="0"/>
          </a:p>
        </p:txBody>
      </p:sp>
      <p:sp>
        <p:nvSpPr>
          <p:cNvPr id="50" name="SK-3-text-49"/>
          <p:cNvSpPr/>
          <p:nvPr/>
        </p:nvSpPr>
        <p:spPr>
          <a:xfrm>
            <a:off x="4124920" y="3203972"/>
            <a:ext cx="5622762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 (C1, C2, F1, L1, etc.)</a:t>
            </a:r>
            <a:endParaRPr lang="en-US" sz="1050" dirty="0"/>
          </a:p>
        </p:txBody>
      </p:sp>
      <p:sp>
        <p:nvSpPr>
          <p:cNvPr id="51" name="SK-3-text-50"/>
          <p:cNvSpPr/>
          <p:nvPr/>
        </p:nvSpPr>
        <p:spPr>
          <a:xfrm>
            <a:off x="4067770" y="3685877"/>
            <a:ext cx="6416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Medidas de Resumo (4 por feature):</a:t>
            </a:r>
            <a:endParaRPr lang="en-US" sz="1200" dirty="0"/>
          </a:p>
        </p:txBody>
      </p:sp>
      <p:sp>
        <p:nvSpPr>
          <p:cNvPr id="52" name="SK-3-text-51"/>
          <p:cNvSpPr/>
          <p:nvPr/>
        </p:nvSpPr>
        <p:spPr>
          <a:xfrm>
            <a:off x="4182070" y="3965823"/>
            <a:ext cx="49169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</a:t>
            </a:r>
            <a:endParaRPr lang="en-US" sz="1050" dirty="0"/>
          </a:p>
        </p:txBody>
      </p:sp>
      <p:sp>
        <p:nvSpPr>
          <p:cNvPr id="53" name="SK-3-text-52"/>
          <p:cNvSpPr/>
          <p:nvPr/>
        </p:nvSpPr>
        <p:spPr>
          <a:xfrm>
            <a:off x="4839295" y="3965823"/>
            <a:ext cx="257175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</a:t>
            </a:r>
            <a:endParaRPr lang="en-US" sz="1050" dirty="0"/>
          </a:p>
        </p:txBody>
      </p:sp>
      <p:sp>
        <p:nvSpPr>
          <p:cNvPr id="54" name="SK-3-text-53"/>
          <p:cNvSpPr/>
          <p:nvPr/>
        </p:nvSpPr>
        <p:spPr>
          <a:xfrm>
            <a:off x="5325070" y="3965823"/>
            <a:ext cx="34290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</a:t>
            </a:r>
            <a:endParaRPr lang="en-US" sz="1050" dirty="0"/>
          </a:p>
        </p:txBody>
      </p:sp>
      <p:sp>
        <p:nvSpPr>
          <p:cNvPr id="55" name="SK-3-text-54"/>
          <p:cNvSpPr/>
          <p:nvPr/>
        </p:nvSpPr>
        <p:spPr>
          <a:xfrm>
            <a:off x="5867995" y="3965823"/>
            <a:ext cx="360317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</a:t>
            </a:r>
            <a:endParaRPr lang="en-US" sz="1050" dirty="0"/>
          </a:p>
        </p:txBody>
      </p:sp>
      <p:sp>
        <p:nvSpPr>
          <p:cNvPr id="56" name="SK-3-text-55"/>
          <p:cNvSpPr/>
          <p:nvPr/>
        </p:nvSpPr>
        <p:spPr>
          <a:xfrm>
            <a:off x="4067770" y="4400104"/>
            <a:ext cx="405645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de 56 características base × 4 medidas = 224 meta-features.</a:t>
            </a:r>
            <a:endParaRPr lang="en-US" sz="1050" dirty="0"/>
          </a:p>
        </p:txBody>
      </p:sp>
      <p:sp>
        <p:nvSpPr>
          <p:cNvPr id="57" name="SK-3-text-56"/>
          <p:cNvSpPr/>
          <p:nvPr/>
        </p:nvSpPr>
        <p:spPr>
          <a:xfrm>
            <a:off x="8967192" y="1683990"/>
            <a:ext cx="2609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</a:rPr>
              <a:t>Meta-Target</a:t>
            </a:r>
            <a:endParaRPr lang="en-US" sz="1500" dirty="0"/>
          </a:p>
        </p:txBody>
      </p:sp>
      <p:sp>
        <p:nvSpPr>
          <p:cNvPr id="58" name="SK-3-text-57"/>
          <p:cNvSpPr/>
          <p:nvPr/>
        </p:nvSpPr>
        <p:spPr>
          <a:xfrm>
            <a:off x="8657630" y="2169765"/>
            <a:ext cx="3002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Algoritmos Base:</a:t>
            </a:r>
            <a:endParaRPr lang="en-US" sz="1200" dirty="0"/>
          </a:p>
        </p:txBody>
      </p:sp>
      <p:sp>
        <p:nvSpPr>
          <p:cNvPr id="59" name="SK-3-text-58"/>
          <p:cNvSpPr/>
          <p:nvPr/>
        </p:nvSpPr>
        <p:spPr>
          <a:xfrm>
            <a:off x="8771930" y="2468761"/>
            <a:ext cx="163413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DecisionTree</a:t>
            </a:r>
            <a:endParaRPr lang="en-US" sz="1050" dirty="0"/>
          </a:p>
        </p:txBody>
      </p:sp>
      <p:sp>
        <p:nvSpPr>
          <p:cNvPr id="60" name="SK-3-text-59"/>
          <p:cNvSpPr/>
          <p:nvPr/>
        </p:nvSpPr>
        <p:spPr>
          <a:xfrm>
            <a:off x="9857780" y="2468761"/>
            <a:ext cx="38100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</a:t>
            </a:r>
            <a:endParaRPr lang="en-US" sz="1050" dirty="0"/>
          </a:p>
        </p:txBody>
      </p:sp>
      <p:sp>
        <p:nvSpPr>
          <p:cNvPr id="61" name="SK-3-text-60"/>
          <p:cNvSpPr/>
          <p:nvPr/>
        </p:nvSpPr>
        <p:spPr>
          <a:xfrm>
            <a:off x="10429280" y="2468761"/>
            <a:ext cx="381000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KNN</a:t>
            </a:r>
            <a:endParaRPr lang="en-US" sz="1050" dirty="0"/>
          </a:p>
        </p:txBody>
      </p:sp>
      <p:sp>
        <p:nvSpPr>
          <p:cNvPr id="62" name="SK-3-text-61"/>
          <p:cNvSpPr/>
          <p:nvPr/>
        </p:nvSpPr>
        <p:spPr>
          <a:xfrm>
            <a:off x="8771930" y="2807791"/>
            <a:ext cx="765864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LogReg</a:t>
            </a:r>
            <a:endParaRPr lang="en-US" sz="1050" dirty="0"/>
          </a:p>
        </p:txBody>
      </p:sp>
      <p:sp>
        <p:nvSpPr>
          <p:cNvPr id="63" name="SK-3-text-62"/>
          <p:cNvSpPr/>
          <p:nvPr/>
        </p:nvSpPr>
        <p:spPr>
          <a:xfrm>
            <a:off x="9524405" y="2807791"/>
            <a:ext cx="133227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Perceptron</a:t>
            </a:r>
            <a:endParaRPr lang="en-US" sz="1050" dirty="0"/>
          </a:p>
        </p:txBody>
      </p:sp>
      <p:sp>
        <p:nvSpPr>
          <p:cNvPr id="64" name="SK-3-text-63"/>
          <p:cNvSpPr/>
          <p:nvPr/>
        </p:nvSpPr>
        <p:spPr>
          <a:xfrm>
            <a:off x="10486430" y="2807791"/>
            <a:ext cx="364236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MLP</a:t>
            </a:r>
            <a:endParaRPr lang="en-US" sz="1050" dirty="0"/>
          </a:p>
        </p:txBody>
      </p:sp>
      <p:sp>
        <p:nvSpPr>
          <p:cNvPr id="65" name="SK-3-text-64"/>
          <p:cNvSpPr/>
          <p:nvPr/>
        </p:nvSpPr>
        <p:spPr>
          <a:xfrm>
            <a:off x="8771930" y="3413522"/>
            <a:ext cx="265807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F172A"/>
                </a:solidFill>
              </a:rPr>
              <a:t>Variável Alvo</a:t>
            </a:r>
            <a:endParaRPr lang="en-US" sz="1125" dirty="0"/>
          </a:p>
        </p:txBody>
      </p:sp>
      <p:sp>
        <p:nvSpPr>
          <p:cNvPr id="66" name="SK-3-text-65"/>
          <p:cNvSpPr/>
          <p:nvPr/>
        </p:nvSpPr>
        <p:spPr>
          <a:xfrm>
            <a:off x="8771930" y="3665934"/>
            <a:ext cx="258187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Acurácia do melhor algoritmo para cada dataset (problema de regressão).</a:t>
            </a:r>
            <a:endParaRPr lang="en-US" sz="1050" dirty="0"/>
          </a:p>
        </p:txBody>
      </p:sp>
      <p:sp>
        <p:nvSpPr>
          <p:cNvPr id="67" name="SK-3-text-66"/>
          <p:cNvSpPr/>
          <p:nvPr/>
        </p:nvSpPr>
        <p:spPr>
          <a:xfrm>
            <a:off x="8824317" y="4336256"/>
            <a:ext cx="281047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Meta-modelo treinado para prever a performance máxima alcançável.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45840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558504" cy="209550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31590"/>
            <a:ext cx="3530650" cy="4945410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760190"/>
            <a:ext cx="3073450" cy="400050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807815"/>
            <a:ext cx="304800" cy="190500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5514975"/>
            <a:ext cx="3073450" cy="733425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5706814"/>
            <a:ext cx="178594" cy="148828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0750" y="1531590"/>
            <a:ext cx="3530650" cy="4945410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9350" y="1760190"/>
            <a:ext cx="3073450" cy="400050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9350" y="1807815"/>
            <a:ext cx="304800" cy="190500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89999" y="1531590"/>
            <a:ext cx="3530650" cy="4945410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599" y="1760190"/>
            <a:ext cx="3073450" cy="400050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599" y="1807815"/>
            <a:ext cx="304800" cy="190500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18599" y="2350740"/>
            <a:ext cx="1479500" cy="723900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12400" y="2350740"/>
            <a:ext cx="1479649" cy="723900"/>
          </a:xfrm>
          <a:prstGeom prst="rect">
            <a:avLst/>
          </a:prstGeom>
        </p:spPr>
      </p:pic>
      <p:pic>
        <p:nvPicPr>
          <p:cNvPr id="19" name="SK-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8599" y="5514975"/>
            <a:ext cx="3073450" cy="733425"/>
          </a:xfrm>
          <a:prstGeom prst="rect">
            <a:avLst/>
          </a:prstGeom>
        </p:spPr>
      </p:pic>
      <p:sp>
        <p:nvSpPr>
          <p:cNvPr id="20" name="SK-4-text-19"/>
          <p:cNvSpPr/>
          <p:nvPr/>
        </p:nvSpPr>
        <p:spPr>
          <a:xfrm>
            <a:off x="647700" y="381000"/>
            <a:ext cx="4074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META-APRENDIZAGEM</a:t>
            </a:r>
            <a:endParaRPr lang="en-US" sz="900" dirty="0"/>
          </a:p>
        </p:txBody>
      </p:sp>
      <p:sp>
        <p:nvSpPr>
          <p:cNvPr id="21" name="SK-4-text-20"/>
          <p:cNvSpPr/>
          <p:nvPr/>
        </p:nvSpPr>
        <p:spPr>
          <a:xfrm>
            <a:off x="571500" y="666750"/>
            <a:ext cx="116205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</a:rPr>
              <a:t>Implementação do Algoritmo Genético</a:t>
            </a:r>
            <a:endParaRPr lang="en-US" sz="2550" dirty="0"/>
          </a:p>
        </p:txBody>
      </p:sp>
      <p:sp>
        <p:nvSpPr>
          <p:cNvPr id="22" name="SK-4-text-21"/>
          <p:cNvSpPr/>
          <p:nvPr/>
        </p:nvSpPr>
        <p:spPr>
          <a:xfrm>
            <a:off x="1219200" y="1760190"/>
            <a:ext cx="443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</a:rPr>
              <a:t>Estrutura &amp; Fitness</a:t>
            </a:r>
            <a:endParaRPr lang="en-US" sz="1500" dirty="0"/>
          </a:p>
        </p:txBody>
      </p:sp>
      <p:sp>
        <p:nvSpPr>
          <p:cNvPr id="23" name="SK-4-text-22"/>
          <p:cNvSpPr/>
          <p:nvPr/>
        </p:nvSpPr>
        <p:spPr>
          <a:xfrm>
            <a:off x="800100" y="2350740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REPRESENTAÇÃO</a:t>
            </a:r>
            <a:endParaRPr lang="en-US" sz="1050" dirty="0"/>
          </a:p>
        </p:txBody>
      </p:sp>
      <p:sp>
        <p:nvSpPr>
          <p:cNvPr id="24" name="SK-4-text-23"/>
          <p:cNvSpPr/>
          <p:nvPr/>
        </p:nvSpPr>
        <p:spPr>
          <a:xfrm>
            <a:off x="800100" y="2588865"/>
            <a:ext cx="64636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Cromossomo binário (224 bits)</a:t>
            </a:r>
            <a:endParaRPr lang="en-US" sz="1350" dirty="0"/>
          </a:p>
        </p:txBody>
      </p:sp>
      <p:sp>
        <p:nvSpPr>
          <p:cNvPr id="25" name="SK-4-text-24"/>
          <p:cNvSpPr/>
          <p:nvPr/>
        </p:nvSpPr>
        <p:spPr>
          <a:xfrm>
            <a:off x="800100" y="2981176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MAPEAMENTO</a:t>
            </a:r>
            <a:endParaRPr lang="en-US" sz="1050" dirty="0"/>
          </a:p>
        </p:txBody>
      </p:sp>
      <p:sp>
        <p:nvSpPr>
          <p:cNvPr id="26" name="SK-4-text-25"/>
          <p:cNvSpPr/>
          <p:nvPr/>
        </p:nvSpPr>
        <p:spPr>
          <a:xfrm>
            <a:off x="800100" y="3219301"/>
            <a:ext cx="71494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= Incluir feature | 0 = Excluir</a:t>
            </a:r>
            <a:endParaRPr lang="en-US" sz="1350" dirty="0"/>
          </a:p>
        </p:txBody>
      </p:sp>
      <p:sp>
        <p:nvSpPr>
          <p:cNvPr id="27" name="SK-4-text-26"/>
          <p:cNvSpPr/>
          <p:nvPr/>
        </p:nvSpPr>
        <p:spPr>
          <a:xfrm>
            <a:off x="800100" y="3611612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FUNÇÃO FITNESS</a:t>
            </a:r>
            <a:endParaRPr lang="en-US" sz="1050" dirty="0"/>
          </a:p>
        </p:txBody>
      </p:sp>
      <p:sp>
        <p:nvSpPr>
          <p:cNvPr id="28" name="SK-4-text-27"/>
          <p:cNvSpPr/>
          <p:nvPr/>
        </p:nvSpPr>
        <p:spPr>
          <a:xfrm>
            <a:off x="800100" y="3849737"/>
            <a:ext cx="64636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 de Random Forest Regressor</a:t>
            </a:r>
            <a:endParaRPr lang="en-US" sz="1350" dirty="0"/>
          </a:p>
        </p:txBody>
      </p:sp>
      <p:sp>
        <p:nvSpPr>
          <p:cNvPr id="29" name="SK-4-text-28"/>
          <p:cNvSpPr/>
          <p:nvPr/>
        </p:nvSpPr>
        <p:spPr>
          <a:xfrm>
            <a:off x="800100" y="4242048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1050" dirty="0"/>
          </a:p>
        </p:txBody>
      </p:sp>
      <p:sp>
        <p:nvSpPr>
          <p:cNvPr id="30" name="SK-4-text-29"/>
          <p:cNvSpPr/>
          <p:nvPr/>
        </p:nvSpPr>
        <p:spPr>
          <a:xfrm>
            <a:off x="800100" y="4480173"/>
            <a:ext cx="495490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5-fold Cross-Validation</a:t>
            </a:r>
            <a:endParaRPr lang="en-US" sz="1350" dirty="0"/>
          </a:p>
        </p:txBody>
      </p:sp>
      <p:sp>
        <p:nvSpPr>
          <p:cNvPr id="31" name="SK-4-text-30"/>
          <p:cNvSpPr/>
          <p:nvPr/>
        </p:nvSpPr>
        <p:spPr>
          <a:xfrm>
            <a:off x="1188244" y="5667375"/>
            <a:ext cx="2768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Uso de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Fitness Caching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evitar recomputação de indivíduos idênticos.</a:t>
            </a:r>
            <a:endParaRPr lang="en-US" sz="1125" dirty="0"/>
          </a:p>
        </p:txBody>
      </p:sp>
      <p:sp>
        <p:nvSpPr>
          <p:cNvPr id="32" name="SK-4-text-31"/>
          <p:cNvSpPr/>
          <p:nvPr/>
        </p:nvSpPr>
        <p:spPr>
          <a:xfrm>
            <a:off x="4978450" y="1760190"/>
            <a:ext cx="4895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</a:rPr>
              <a:t>Operadores Evolutivos</a:t>
            </a:r>
            <a:endParaRPr lang="en-US" sz="1500" dirty="0"/>
          </a:p>
        </p:txBody>
      </p:sp>
      <p:sp>
        <p:nvSpPr>
          <p:cNvPr id="33" name="SK-4-text-32"/>
          <p:cNvSpPr/>
          <p:nvPr/>
        </p:nvSpPr>
        <p:spPr>
          <a:xfrm>
            <a:off x="4559350" y="2350740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SELEÇÃO</a:t>
            </a:r>
            <a:endParaRPr lang="en-US" sz="1050" dirty="0"/>
          </a:p>
        </p:txBody>
      </p:sp>
      <p:sp>
        <p:nvSpPr>
          <p:cNvPr id="34" name="SK-4-text-33"/>
          <p:cNvSpPr/>
          <p:nvPr/>
        </p:nvSpPr>
        <p:spPr>
          <a:xfrm>
            <a:off x="4559350" y="2588865"/>
            <a:ext cx="330898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Torneio com k=3</a:t>
            </a:r>
            <a:endParaRPr lang="en-US" sz="1350" dirty="0"/>
          </a:p>
        </p:txBody>
      </p:sp>
      <p:sp>
        <p:nvSpPr>
          <p:cNvPr id="35" name="SK-4-text-34"/>
          <p:cNvSpPr/>
          <p:nvPr/>
        </p:nvSpPr>
        <p:spPr>
          <a:xfrm>
            <a:off x="4559350" y="2981176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CROSSOVER</a:t>
            </a:r>
            <a:endParaRPr lang="en-US" sz="1050" dirty="0"/>
          </a:p>
        </p:txBody>
      </p:sp>
      <p:sp>
        <p:nvSpPr>
          <p:cNvPr id="36" name="SK-4-text-35"/>
          <p:cNvSpPr/>
          <p:nvPr/>
        </p:nvSpPr>
        <p:spPr>
          <a:xfrm>
            <a:off x="4559350" y="3219301"/>
            <a:ext cx="509206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 único (Taxa: 0.8)</a:t>
            </a:r>
            <a:endParaRPr lang="en-US" sz="1350" dirty="0"/>
          </a:p>
        </p:txBody>
      </p:sp>
      <p:sp>
        <p:nvSpPr>
          <p:cNvPr id="37" name="SK-4-text-36"/>
          <p:cNvSpPr/>
          <p:nvPr/>
        </p:nvSpPr>
        <p:spPr>
          <a:xfrm>
            <a:off x="4559350" y="3611612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MUTAÇÃO</a:t>
            </a:r>
            <a:endParaRPr lang="en-US" sz="1050" dirty="0"/>
          </a:p>
        </p:txBody>
      </p:sp>
      <p:sp>
        <p:nvSpPr>
          <p:cNvPr id="38" name="SK-4-text-37"/>
          <p:cNvSpPr/>
          <p:nvPr/>
        </p:nvSpPr>
        <p:spPr>
          <a:xfrm>
            <a:off x="4559350" y="3849737"/>
            <a:ext cx="481774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Bit-flip (Taxa: 0.05)</a:t>
            </a:r>
            <a:endParaRPr lang="en-US" sz="1350" dirty="0"/>
          </a:p>
        </p:txBody>
      </p:sp>
      <p:sp>
        <p:nvSpPr>
          <p:cNvPr id="39" name="SK-4-text-38"/>
          <p:cNvSpPr/>
          <p:nvPr/>
        </p:nvSpPr>
        <p:spPr>
          <a:xfrm>
            <a:off x="4559350" y="4242048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</a:t>
            </a:r>
            <a:endParaRPr lang="en-US" sz="1050" dirty="0"/>
          </a:p>
        </p:txBody>
      </p:sp>
      <p:sp>
        <p:nvSpPr>
          <p:cNvPr id="40" name="SK-4-text-39"/>
          <p:cNvSpPr/>
          <p:nvPr/>
        </p:nvSpPr>
        <p:spPr>
          <a:xfrm>
            <a:off x="4559350" y="4480173"/>
            <a:ext cx="598360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Elitismo (Top-2 preservados)</a:t>
            </a:r>
            <a:endParaRPr lang="en-US" sz="1350" dirty="0"/>
          </a:p>
        </p:txBody>
      </p:sp>
      <p:sp>
        <p:nvSpPr>
          <p:cNvPr id="41" name="SK-4-text-40"/>
          <p:cNvSpPr/>
          <p:nvPr/>
        </p:nvSpPr>
        <p:spPr>
          <a:xfrm>
            <a:off x="8737699" y="1760190"/>
            <a:ext cx="34543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</a:rPr>
              <a:t>Configuração &amp; Execução</a:t>
            </a:r>
            <a:endParaRPr lang="en-US" sz="1500" dirty="0"/>
          </a:p>
        </p:txBody>
      </p:sp>
      <p:sp>
        <p:nvSpPr>
          <p:cNvPr id="42" name="SK-4-text-41"/>
          <p:cNvSpPr/>
          <p:nvPr/>
        </p:nvSpPr>
        <p:spPr>
          <a:xfrm>
            <a:off x="8394799" y="2465040"/>
            <a:ext cx="1327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Indivíduos</a:t>
            </a:r>
            <a:endParaRPr lang="en-US" sz="900" dirty="0"/>
          </a:p>
        </p:txBody>
      </p:sp>
      <p:sp>
        <p:nvSpPr>
          <p:cNvPr id="43" name="SK-4-text-42"/>
          <p:cNvSpPr/>
          <p:nvPr/>
        </p:nvSpPr>
        <p:spPr>
          <a:xfrm>
            <a:off x="8385274" y="2674590"/>
            <a:ext cx="1346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563EB"/>
                </a:solidFill>
              </a:rPr>
              <a:t>30</a:t>
            </a:r>
            <a:endParaRPr lang="en-US" sz="1500" dirty="0"/>
          </a:p>
        </p:txBody>
      </p:sp>
      <p:sp>
        <p:nvSpPr>
          <p:cNvPr id="44" name="SK-4-text-43"/>
          <p:cNvSpPr/>
          <p:nvPr/>
        </p:nvSpPr>
        <p:spPr>
          <a:xfrm>
            <a:off x="9988600" y="2465040"/>
            <a:ext cx="1327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Gerações</a:t>
            </a:r>
            <a:endParaRPr lang="en-US" sz="900" dirty="0"/>
          </a:p>
        </p:txBody>
      </p:sp>
      <p:sp>
        <p:nvSpPr>
          <p:cNvPr id="45" name="SK-4-text-44"/>
          <p:cNvSpPr/>
          <p:nvPr/>
        </p:nvSpPr>
        <p:spPr>
          <a:xfrm>
            <a:off x="9979075" y="2674590"/>
            <a:ext cx="13462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563EB"/>
                </a:solidFill>
              </a:rPr>
              <a:t>50</a:t>
            </a:r>
            <a:endParaRPr lang="en-US" sz="1500" dirty="0"/>
          </a:p>
        </p:txBody>
      </p:sp>
      <p:sp>
        <p:nvSpPr>
          <p:cNvPr id="46" name="SK-4-text-45"/>
          <p:cNvSpPr/>
          <p:nvPr/>
        </p:nvSpPr>
        <p:spPr>
          <a:xfrm>
            <a:off x="8318599" y="3265140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MÉDIO</a:t>
            </a:r>
            <a:endParaRPr lang="en-US" sz="1050" dirty="0"/>
          </a:p>
        </p:txBody>
      </p:sp>
      <p:sp>
        <p:nvSpPr>
          <p:cNvPr id="47" name="SK-4-text-46"/>
          <p:cNvSpPr/>
          <p:nvPr/>
        </p:nvSpPr>
        <p:spPr>
          <a:xfrm>
            <a:off x="8318599" y="3503265"/>
            <a:ext cx="387340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Aprox. 6 minutos de execução</a:t>
            </a:r>
            <a:endParaRPr lang="en-US" sz="1350" dirty="0"/>
          </a:p>
        </p:txBody>
      </p:sp>
      <p:sp>
        <p:nvSpPr>
          <p:cNvPr id="48" name="SK-4-text-47"/>
          <p:cNvSpPr/>
          <p:nvPr/>
        </p:nvSpPr>
        <p:spPr>
          <a:xfrm>
            <a:off x="8318599" y="3895576"/>
            <a:ext cx="314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7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</a:t>
            </a:r>
            <a:endParaRPr lang="en-US" sz="1050" dirty="0"/>
          </a:p>
        </p:txBody>
      </p:sp>
      <p:sp>
        <p:nvSpPr>
          <p:cNvPr id="49" name="SK-4-text-48"/>
          <p:cNvSpPr/>
          <p:nvPr/>
        </p:nvSpPr>
        <p:spPr>
          <a:xfrm>
            <a:off x="8318599" y="4133701"/>
            <a:ext cx="307345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 paralelo para avaliação do fitness</a:t>
            </a:r>
            <a:endParaRPr lang="en-US" sz="1350" dirty="0"/>
          </a:p>
        </p:txBody>
      </p:sp>
      <p:sp>
        <p:nvSpPr>
          <p:cNvPr id="50" name="SK-4-text-49"/>
          <p:cNvSpPr/>
          <p:nvPr/>
        </p:nvSpPr>
        <p:spPr>
          <a:xfrm>
            <a:off x="8470999" y="5667375"/>
            <a:ext cx="27686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Equilíbrio entre exploração do espaço de busca e custo computacional.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45840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558504" cy="209550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18421"/>
            <a:ext cx="4103043" cy="3048000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92413"/>
            <a:ext cx="238125" cy="194816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335363"/>
            <a:ext cx="238125" cy="194816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147221"/>
            <a:ext cx="4103043" cy="1219200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5543" y="1370558"/>
            <a:ext cx="6564957" cy="5210175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8893" y="1503908"/>
            <a:ext cx="6298257" cy="4943475"/>
          </a:xfrm>
          <a:prstGeom prst="rect">
            <a:avLst/>
          </a:prstGeom>
        </p:spPr>
      </p:pic>
      <p:sp>
        <p:nvSpPr>
          <p:cNvPr id="12" name="SK-5-text-11"/>
          <p:cNvSpPr/>
          <p:nvPr/>
        </p:nvSpPr>
        <p:spPr>
          <a:xfrm>
            <a:off x="647700" y="381000"/>
            <a:ext cx="4074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META-APRENDIZAGEM</a:t>
            </a:r>
            <a:endParaRPr lang="en-US" sz="900" dirty="0"/>
          </a:p>
        </p:txBody>
      </p:sp>
      <p:sp>
        <p:nvSpPr>
          <p:cNvPr id="13" name="SK-5-text-12"/>
          <p:cNvSpPr/>
          <p:nvPr/>
        </p:nvSpPr>
        <p:spPr>
          <a:xfrm>
            <a:off x="571500" y="666750"/>
            <a:ext cx="116205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</a:rPr>
              <a:t>Convergência do Algoritmo Genético</a:t>
            </a:r>
            <a:endParaRPr lang="en-US" sz="2550" dirty="0"/>
          </a:p>
        </p:txBody>
      </p:sp>
      <p:sp>
        <p:nvSpPr>
          <p:cNvPr id="14" name="SK-5-text-13"/>
          <p:cNvSpPr/>
          <p:nvPr/>
        </p:nvSpPr>
        <p:spPr>
          <a:xfrm>
            <a:off x="571500" y="1584871"/>
            <a:ext cx="10515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50"/>
              </a:lnSpc>
              <a:buNone/>
            </a:pPr>
            <a:r>
              <a:rPr lang="en-US" sz="8250" b="1" spc="-264" kern="0" dirty="0">
                <a:solidFill>
                  <a:srgbClr val="2563EB"/>
                </a:solidFill>
              </a:rPr>
              <a:t>-49,1%</a:t>
            </a:r>
            <a:endParaRPr lang="en-US" sz="8250" dirty="0"/>
          </a:p>
        </p:txBody>
      </p:sp>
      <p:sp>
        <p:nvSpPr>
          <p:cNvPr id="15" name="SK-5-text-14"/>
          <p:cNvSpPr/>
          <p:nvPr/>
        </p:nvSpPr>
        <p:spPr>
          <a:xfrm>
            <a:off x="571500" y="2670721"/>
            <a:ext cx="53263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spc="72" kern="0" dirty="0">
                <a:solidFill>
                  <a:srgbClr val="475569"/>
                </a:solidFill>
              </a:rPr>
              <a:t>REDUÇÃO DE FEATURES</a:t>
            </a:r>
            <a:endParaRPr lang="en-US" sz="1800" dirty="0"/>
          </a:p>
        </p:txBody>
      </p:sp>
      <p:sp>
        <p:nvSpPr>
          <p:cNvPr id="16" name="SK-5-text-15"/>
          <p:cNvSpPr/>
          <p:nvPr/>
        </p:nvSpPr>
        <p:spPr>
          <a:xfrm>
            <a:off x="885825" y="3547021"/>
            <a:ext cx="3752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-11,3% no RMSE</a:t>
            </a:r>
            <a:endParaRPr lang="en-US" sz="1500" dirty="0"/>
          </a:p>
        </p:txBody>
      </p:sp>
      <p:sp>
        <p:nvSpPr>
          <p:cNvPr id="17" name="SK-5-text-16"/>
          <p:cNvSpPr/>
          <p:nvPr/>
        </p:nvSpPr>
        <p:spPr>
          <a:xfrm>
            <a:off x="819150" y="3870871"/>
            <a:ext cx="6090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0.08906 → 0.07902 (Fitness)</a:t>
            </a:r>
            <a:endParaRPr lang="en-US" sz="1200" dirty="0"/>
          </a:p>
        </p:txBody>
      </p:sp>
      <p:sp>
        <p:nvSpPr>
          <p:cNvPr id="18" name="SK-5-text-17"/>
          <p:cNvSpPr/>
          <p:nvPr/>
        </p:nvSpPr>
        <p:spPr>
          <a:xfrm>
            <a:off x="885825" y="4289971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Seleção Robusta</a:t>
            </a:r>
            <a:endParaRPr lang="en-US" sz="1500" dirty="0"/>
          </a:p>
        </p:txBody>
      </p:sp>
      <p:sp>
        <p:nvSpPr>
          <p:cNvPr id="19" name="SK-5-text-18"/>
          <p:cNvSpPr/>
          <p:nvPr/>
        </p:nvSpPr>
        <p:spPr>
          <a:xfrm>
            <a:off x="819150" y="4613821"/>
            <a:ext cx="57469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224 para 114 meta-features</a:t>
            </a:r>
            <a:endParaRPr lang="en-US" sz="1200" dirty="0"/>
          </a:p>
        </p:txBody>
      </p:sp>
      <p:sp>
        <p:nvSpPr>
          <p:cNvPr id="20" name="SK-5-text-19"/>
          <p:cNvSpPr/>
          <p:nvPr/>
        </p:nvSpPr>
        <p:spPr>
          <a:xfrm>
            <a:off x="723900" y="5299621"/>
            <a:ext cx="37982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curva de fitness demonstra estabilização consistente após a 30ª geração, permitindo o descarte de redundâncias sem perda de qualidade preditiva.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45840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558504" cy="209550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93490"/>
            <a:ext cx="6267450" cy="4597747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07790"/>
            <a:ext cx="6038850" cy="4369147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0" y="1493490"/>
            <a:ext cx="4476750" cy="1450032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0" y="1680270"/>
            <a:ext cx="238125" cy="190500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0" y="3067348"/>
            <a:ext cx="4476750" cy="1450032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4250" y="3254127"/>
            <a:ext cx="238125" cy="190500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0" y="4641205"/>
            <a:ext cx="4476750" cy="1450032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4250" y="4827984"/>
            <a:ext cx="238125" cy="190500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6371630"/>
            <a:ext cx="178594" cy="148828"/>
          </a:xfrm>
          <a:prstGeom prst="rect">
            <a:avLst/>
          </a:prstGeom>
        </p:spPr>
      </p:pic>
      <p:sp>
        <p:nvSpPr>
          <p:cNvPr id="15" name="SK-6-text-14"/>
          <p:cNvSpPr/>
          <p:nvPr/>
        </p:nvSpPr>
        <p:spPr>
          <a:xfrm>
            <a:off x="647700" y="381000"/>
            <a:ext cx="4074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META-APRENDIZAGEM</a:t>
            </a:r>
            <a:endParaRPr lang="en-US" sz="900" dirty="0"/>
          </a:p>
        </p:txBody>
      </p:sp>
      <p:sp>
        <p:nvSpPr>
          <p:cNvPr id="16" name="SK-6-text-15"/>
          <p:cNvSpPr/>
          <p:nvPr/>
        </p:nvSpPr>
        <p:spPr>
          <a:xfrm>
            <a:off x="571500" y="666750"/>
            <a:ext cx="116205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</a:rPr>
              <a:t>Resultados: Baseline vs Após GA</a:t>
            </a:r>
            <a:endParaRPr lang="en-US" sz="2550" dirty="0"/>
          </a:p>
        </p:txBody>
      </p:sp>
      <p:sp>
        <p:nvSpPr>
          <p:cNvPr id="17" name="SK-6-text-16"/>
          <p:cNvSpPr/>
          <p:nvPr/>
        </p:nvSpPr>
        <p:spPr>
          <a:xfrm>
            <a:off x="7686675" y="1646932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</a:rPr>
              <a:t>Redução de Erro</a:t>
            </a:r>
            <a:endParaRPr lang="en-US" sz="1350" dirty="0"/>
          </a:p>
        </p:txBody>
      </p:sp>
      <p:sp>
        <p:nvSpPr>
          <p:cNvPr id="18" name="SK-6-text-17"/>
          <p:cNvSpPr/>
          <p:nvPr/>
        </p:nvSpPr>
        <p:spPr>
          <a:xfrm>
            <a:off x="7334250" y="1961257"/>
            <a:ext cx="4229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563EB"/>
                </a:solidFill>
              </a:rPr>
              <a:t>-9,9% RMSE</a:t>
            </a:r>
            <a:endParaRPr lang="en-US" sz="2100" dirty="0"/>
          </a:p>
        </p:txBody>
      </p:sp>
      <p:sp>
        <p:nvSpPr>
          <p:cNvPr id="19" name="SK-6-text-18"/>
          <p:cNvSpPr/>
          <p:nvPr/>
        </p:nvSpPr>
        <p:spPr>
          <a:xfrm>
            <a:off x="7334250" y="2389882"/>
            <a:ext cx="4095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Melhoria significativa na precisão do meta-modelo em relação ao baseline de 224 features.</a:t>
            </a:r>
            <a:endParaRPr lang="en-US" sz="1125" dirty="0"/>
          </a:p>
        </p:txBody>
      </p:sp>
      <p:sp>
        <p:nvSpPr>
          <p:cNvPr id="20" name="SK-6-text-19"/>
          <p:cNvSpPr/>
          <p:nvPr/>
        </p:nvSpPr>
        <p:spPr>
          <a:xfrm>
            <a:off x="7686675" y="3220789"/>
            <a:ext cx="39947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</a:rPr>
              <a:t>Ganho de Correlação</a:t>
            </a:r>
            <a:endParaRPr lang="en-US" sz="1350" dirty="0"/>
          </a:p>
        </p:txBody>
      </p:sp>
      <p:sp>
        <p:nvSpPr>
          <p:cNvPr id="21" name="SK-6-text-20"/>
          <p:cNvSpPr/>
          <p:nvPr/>
        </p:nvSpPr>
        <p:spPr>
          <a:xfrm>
            <a:off x="7334250" y="3535114"/>
            <a:ext cx="485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563EB"/>
                </a:solidFill>
              </a:rPr>
              <a:t>+153% Spearman</a:t>
            </a:r>
            <a:endParaRPr lang="en-US" sz="2100" dirty="0"/>
          </a:p>
        </p:txBody>
      </p:sp>
      <p:sp>
        <p:nvSpPr>
          <p:cNvPr id="22" name="SK-6-text-21"/>
          <p:cNvSpPr/>
          <p:nvPr/>
        </p:nvSpPr>
        <p:spPr>
          <a:xfrm>
            <a:off x="7334250" y="3963739"/>
            <a:ext cx="4095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expansão do meta-dataset (22 para 35 datasets) elevou a correlação de 0.30 para 0.76.</a:t>
            </a:r>
            <a:endParaRPr lang="en-US" sz="1125" dirty="0"/>
          </a:p>
        </p:txBody>
      </p:sp>
      <p:sp>
        <p:nvSpPr>
          <p:cNvPr id="23" name="SK-6-text-22"/>
          <p:cNvSpPr/>
          <p:nvPr/>
        </p:nvSpPr>
        <p:spPr>
          <a:xfrm>
            <a:off x="7686675" y="4794647"/>
            <a:ext cx="4505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F172A"/>
                </a:solidFill>
              </a:rPr>
              <a:t>Eficiência Dimensional</a:t>
            </a:r>
            <a:endParaRPr lang="en-US" sz="1350" dirty="0"/>
          </a:p>
        </p:txBody>
      </p:sp>
      <p:sp>
        <p:nvSpPr>
          <p:cNvPr id="24" name="SK-6-text-23"/>
          <p:cNvSpPr/>
          <p:nvPr/>
        </p:nvSpPr>
        <p:spPr>
          <a:xfrm>
            <a:off x="7334250" y="5108972"/>
            <a:ext cx="485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563EB"/>
                </a:solidFill>
              </a:rPr>
              <a:t>-49,1% Features</a:t>
            </a:r>
            <a:endParaRPr lang="en-US" sz="2100" dirty="0"/>
          </a:p>
        </p:txBody>
      </p:sp>
      <p:sp>
        <p:nvSpPr>
          <p:cNvPr id="25" name="SK-6-text-24"/>
          <p:cNvSpPr/>
          <p:nvPr/>
        </p:nvSpPr>
        <p:spPr>
          <a:xfrm>
            <a:off x="7334250" y="5537597"/>
            <a:ext cx="4095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Algoritmo Genético descartou metade das features sem perda de qualidade preditiva.</a:t>
            </a:r>
            <a:endParaRPr lang="en-US" sz="1125" dirty="0"/>
          </a:p>
        </p:txBody>
      </p:sp>
      <p:sp>
        <p:nvSpPr>
          <p:cNvPr id="26" name="SK-6-text-25"/>
          <p:cNvSpPr/>
          <p:nvPr/>
        </p:nvSpPr>
        <p:spPr>
          <a:xfrm>
            <a:off x="826294" y="6338888"/>
            <a:ext cx="1136570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 completa realizada com Random Forest e KNN em 10-fold Cross-Validation.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45840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558504" cy="209550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50640"/>
            <a:ext cx="3911650" cy="2600325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265140"/>
            <a:ext cx="3454450" cy="657225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418880"/>
            <a:ext cx="178594" cy="148828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1750" y="1550640"/>
            <a:ext cx="3359200" cy="2600325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2250" y="1741140"/>
            <a:ext cx="2978200" cy="400050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2250" y="1807815"/>
            <a:ext cx="190500" cy="152400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2250" y="2334518"/>
            <a:ext cx="214313" cy="175320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2250" y="2705993"/>
            <a:ext cx="214313" cy="175320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2250" y="3077468"/>
            <a:ext cx="214313" cy="175320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1449" y="1550640"/>
            <a:ext cx="3359200" cy="2600325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1949" y="1741140"/>
            <a:ext cx="2978200" cy="400050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51949" y="1807815"/>
            <a:ext cx="190500" cy="152400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51949" y="2334518"/>
            <a:ext cx="214313" cy="175320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1949" y="2705993"/>
            <a:ext cx="214313" cy="175320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51949" y="3077468"/>
            <a:ext cx="214313" cy="175320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379565"/>
            <a:ext cx="11049000" cy="1001911"/>
          </a:xfrm>
          <a:prstGeom prst="rect">
            <a:avLst/>
          </a:prstGeom>
        </p:spPr>
      </p:pic>
      <p:pic>
        <p:nvPicPr>
          <p:cNvPr id="22" name="SK-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4651921"/>
            <a:ext cx="381000" cy="457200"/>
          </a:xfrm>
          <a:prstGeom prst="rect">
            <a:avLst/>
          </a:prstGeom>
        </p:spPr>
      </p:pic>
      <p:pic>
        <p:nvPicPr>
          <p:cNvPr id="23" name="SK-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6224588"/>
            <a:ext cx="11049000" cy="328613"/>
          </a:xfrm>
          <a:prstGeom prst="rect">
            <a:avLst/>
          </a:prstGeom>
        </p:spPr>
      </p:pic>
      <p:sp>
        <p:nvSpPr>
          <p:cNvPr id="24" name="SK-7-text-23"/>
          <p:cNvSpPr/>
          <p:nvPr/>
        </p:nvSpPr>
        <p:spPr>
          <a:xfrm>
            <a:off x="647700" y="381000"/>
            <a:ext cx="4074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META-APRENDIZAGEM</a:t>
            </a:r>
            <a:endParaRPr lang="en-US" sz="900" dirty="0"/>
          </a:p>
        </p:txBody>
      </p:sp>
      <p:sp>
        <p:nvSpPr>
          <p:cNvPr id="25" name="SK-7-text-24"/>
          <p:cNvSpPr/>
          <p:nvPr/>
        </p:nvSpPr>
        <p:spPr>
          <a:xfrm>
            <a:off x="571500" y="666750"/>
            <a:ext cx="116205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</a:rPr>
              <a:t>Análise: Especialização por Algoritmo</a:t>
            </a:r>
            <a:endParaRPr lang="en-US" sz="2550" dirty="0"/>
          </a:p>
        </p:txBody>
      </p:sp>
      <p:sp>
        <p:nvSpPr>
          <p:cNvPr id="26" name="SK-7-text-25"/>
          <p:cNvSpPr/>
          <p:nvPr/>
        </p:nvSpPr>
        <p:spPr>
          <a:xfrm>
            <a:off x="800100" y="1779240"/>
            <a:ext cx="353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DE OTIMIZAÇÃO</a:t>
            </a:r>
            <a:endParaRPr lang="en-US" sz="1200" dirty="0"/>
          </a:p>
        </p:txBody>
      </p:sp>
      <p:sp>
        <p:nvSpPr>
          <p:cNvPr id="27" name="SK-7-text-26"/>
          <p:cNvSpPr/>
          <p:nvPr/>
        </p:nvSpPr>
        <p:spPr>
          <a:xfrm>
            <a:off x="800100" y="2084040"/>
            <a:ext cx="34544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Algoritmo Genético foi configurado com o objetivo de minimizar o erro (RMSE) especificamente para o meta-modelo de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(LR)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28" name="SK-7-text-27"/>
          <p:cNvSpPr/>
          <p:nvPr/>
        </p:nvSpPr>
        <p:spPr>
          <a:xfrm>
            <a:off x="1169194" y="3379440"/>
            <a:ext cx="3225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fitness function baseia-se na performance do meta-alvo definido.</a:t>
            </a:r>
            <a:endParaRPr lang="en-US" sz="1125" dirty="0"/>
          </a:p>
        </p:txBody>
      </p:sp>
      <p:sp>
        <p:nvSpPr>
          <p:cNvPr id="29" name="SK-7-text-28"/>
          <p:cNvSpPr/>
          <p:nvPr/>
        </p:nvSpPr>
        <p:spPr>
          <a:xfrm>
            <a:off x="5207050" y="1741140"/>
            <a:ext cx="3752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</a:rPr>
              <a:t>Beneficiados (+)</a:t>
            </a:r>
            <a:endParaRPr lang="en-US" sz="1500" dirty="0"/>
          </a:p>
        </p:txBody>
      </p:sp>
      <p:sp>
        <p:nvSpPr>
          <p:cNvPr id="30" name="SK-7-text-29"/>
          <p:cNvSpPr/>
          <p:nvPr/>
        </p:nvSpPr>
        <p:spPr>
          <a:xfrm>
            <a:off x="5211812" y="2293590"/>
            <a:ext cx="37033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LogisticRegression</a:t>
            </a:r>
            <a:endParaRPr lang="en-US" sz="1350" dirty="0"/>
          </a:p>
        </p:txBody>
      </p:sp>
      <p:sp>
        <p:nvSpPr>
          <p:cNvPr id="31" name="SK-7-text-30"/>
          <p:cNvSpPr/>
          <p:nvPr/>
        </p:nvSpPr>
        <p:spPr>
          <a:xfrm>
            <a:off x="5211812" y="2665065"/>
            <a:ext cx="2978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</a:t>
            </a:r>
            <a:endParaRPr lang="en-US" sz="1350" dirty="0"/>
          </a:p>
        </p:txBody>
      </p:sp>
      <p:sp>
        <p:nvSpPr>
          <p:cNvPr id="32" name="SK-7-text-31"/>
          <p:cNvSpPr/>
          <p:nvPr/>
        </p:nvSpPr>
        <p:spPr>
          <a:xfrm>
            <a:off x="5211812" y="3036540"/>
            <a:ext cx="2978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MLP</a:t>
            </a:r>
            <a:endParaRPr lang="en-US" sz="1350" dirty="0"/>
          </a:p>
        </p:txBody>
      </p:sp>
      <p:sp>
        <p:nvSpPr>
          <p:cNvPr id="33" name="SK-7-text-32"/>
          <p:cNvSpPr/>
          <p:nvPr/>
        </p:nvSpPr>
        <p:spPr>
          <a:xfrm>
            <a:off x="8756749" y="1741140"/>
            <a:ext cx="34352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F172A"/>
                </a:solidFill>
              </a:rPr>
              <a:t>Prejudicados (−)</a:t>
            </a:r>
            <a:endParaRPr lang="en-US" sz="1500" dirty="0"/>
          </a:p>
        </p:txBody>
      </p:sp>
      <p:sp>
        <p:nvSpPr>
          <p:cNvPr id="34" name="SK-7-text-33"/>
          <p:cNvSpPr/>
          <p:nvPr/>
        </p:nvSpPr>
        <p:spPr>
          <a:xfrm>
            <a:off x="8761512" y="2293590"/>
            <a:ext cx="2978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DecisionTree</a:t>
            </a:r>
            <a:endParaRPr lang="en-US" sz="1350" dirty="0"/>
          </a:p>
        </p:txBody>
      </p:sp>
      <p:sp>
        <p:nvSpPr>
          <p:cNvPr id="35" name="SK-7-text-34"/>
          <p:cNvSpPr/>
          <p:nvPr/>
        </p:nvSpPr>
        <p:spPr>
          <a:xfrm>
            <a:off x="8761512" y="2665065"/>
            <a:ext cx="2978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KNN</a:t>
            </a:r>
            <a:endParaRPr lang="en-US" sz="1350" dirty="0"/>
          </a:p>
        </p:txBody>
      </p:sp>
      <p:sp>
        <p:nvSpPr>
          <p:cNvPr id="36" name="SK-7-text-35"/>
          <p:cNvSpPr/>
          <p:nvPr/>
        </p:nvSpPr>
        <p:spPr>
          <a:xfrm>
            <a:off x="8761512" y="3036540"/>
            <a:ext cx="29782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Perceptron</a:t>
            </a:r>
            <a:endParaRPr lang="en-US" sz="1350" dirty="0"/>
          </a:p>
        </p:txBody>
      </p:sp>
      <p:sp>
        <p:nvSpPr>
          <p:cNvPr id="37" name="SK-7-text-36"/>
          <p:cNvSpPr/>
          <p:nvPr/>
        </p:nvSpPr>
        <p:spPr>
          <a:xfrm>
            <a:off x="1371600" y="4608165"/>
            <a:ext cx="1002030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Conclusão Analítica: A seleção ótima de meta-features é dependente do algoritmo-alvo. Não existe um subconjunto universalmente superior para todos os meta-modelos.</a:t>
            </a:r>
            <a:endParaRPr lang="en-US" sz="1650" dirty="0"/>
          </a:p>
        </p:txBody>
      </p:sp>
      <p:sp>
        <p:nvSpPr>
          <p:cNvPr id="38" name="SK-7-text-37"/>
          <p:cNvSpPr/>
          <p:nvPr/>
        </p:nvSpPr>
        <p:spPr>
          <a:xfrm>
            <a:off x="571500" y="6338888"/>
            <a:ext cx="116205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Fenômeno esperado em meta-aprendizagem devido ao viés indutivo de cada algoritmo.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45840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558504" cy="209550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93490"/>
            <a:ext cx="6809482" cy="5121325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607790"/>
            <a:ext cx="6580882" cy="4892725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8632" y="2007245"/>
            <a:ext cx="228600" cy="228600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8632" y="2521595"/>
            <a:ext cx="3991868" cy="3636466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0082" y="2714923"/>
            <a:ext cx="214313" cy="175320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00082" y="3723531"/>
            <a:ext cx="214313" cy="175320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0082" y="4786461"/>
            <a:ext cx="3648968" cy="1219200"/>
          </a:xfrm>
          <a:prstGeom prst="rect">
            <a:avLst/>
          </a:prstGeom>
        </p:spPr>
      </p:pic>
      <p:sp>
        <p:nvSpPr>
          <p:cNvPr id="13" name="SK-8-text-12"/>
          <p:cNvSpPr/>
          <p:nvPr/>
        </p:nvSpPr>
        <p:spPr>
          <a:xfrm>
            <a:off x="647700" y="381000"/>
            <a:ext cx="4074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META-APRENDIZAGEM</a:t>
            </a:r>
            <a:endParaRPr lang="en-US" sz="900" dirty="0"/>
          </a:p>
        </p:txBody>
      </p:sp>
      <p:sp>
        <p:nvSpPr>
          <p:cNvPr id="14" name="SK-8-text-13"/>
          <p:cNvSpPr/>
          <p:nvPr/>
        </p:nvSpPr>
        <p:spPr>
          <a:xfrm>
            <a:off x="571500" y="666750"/>
            <a:ext cx="116205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</a:rPr>
              <a:t>GA vs Importância por Random Forest</a:t>
            </a:r>
            <a:endParaRPr lang="en-US" sz="2550" dirty="0"/>
          </a:p>
        </p:txBody>
      </p:sp>
      <p:sp>
        <p:nvSpPr>
          <p:cNvPr id="15" name="SK-8-text-14"/>
          <p:cNvSpPr/>
          <p:nvPr/>
        </p:nvSpPr>
        <p:spPr>
          <a:xfrm>
            <a:off x="7971532" y="1950095"/>
            <a:ext cx="42204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172A"/>
                </a:solidFill>
              </a:rPr>
              <a:t>Lógica de Seleção (GA)</a:t>
            </a:r>
            <a:endParaRPr lang="en-US" sz="1800" dirty="0"/>
          </a:p>
        </p:txBody>
      </p:sp>
      <p:sp>
        <p:nvSpPr>
          <p:cNvPr id="16" name="SK-8-text-15"/>
          <p:cNvSpPr/>
          <p:nvPr/>
        </p:nvSpPr>
        <p:spPr>
          <a:xfrm>
            <a:off x="8090595" y="2673995"/>
            <a:ext cx="41014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Detecção de Redundância</a:t>
            </a:r>
            <a:endParaRPr lang="en-US" sz="1350" dirty="0"/>
          </a:p>
        </p:txBody>
      </p:sp>
      <p:sp>
        <p:nvSpPr>
          <p:cNvPr id="17" name="SK-8-text-16"/>
          <p:cNvSpPr/>
          <p:nvPr/>
        </p:nvSpPr>
        <p:spPr>
          <a:xfrm>
            <a:off x="7800082" y="2988320"/>
            <a:ext cx="3648968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features l3.max, f1v.max e l1.max foram descartadas apesar do ranking alto por serem </a:t>
            </a:r>
            <a:pPr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altamente correlacionadas</a:t>
            </a:r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as duas primeiras.</a:t>
            </a:r>
            <a:endParaRPr lang="en-US" sz="1050" dirty="0"/>
          </a:p>
        </p:txBody>
      </p:sp>
      <p:sp>
        <p:nvSpPr>
          <p:cNvPr id="18" name="SK-8-text-17"/>
          <p:cNvSpPr/>
          <p:nvPr/>
        </p:nvSpPr>
        <p:spPr>
          <a:xfrm>
            <a:off x="8090595" y="3682603"/>
            <a:ext cx="41014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563EB"/>
                </a:solidFill>
              </a:rPr>
              <a:t>Grupo de Complexidade</a:t>
            </a:r>
            <a:endParaRPr lang="en-US" sz="1350" dirty="0"/>
          </a:p>
        </p:txBody>
      </p:sp>
      <p:sp>
        <p:nvSpPr>
          <p:cNvPr id="19" name="SK-8-text-18"/>
          <p:cNvSpPr/>
          <p:nvPr/>
        </p:nvSpPr>
        <p:spPr>
          <a:xfrm>
            <a:off x="7800082" y="3996928"/>
            <a:ext cx="3648968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as Top-5 pertencem ao grupo </a:t>
            </a:r>
            <a:pPr indent="0" marL="0">
              <a:lnSpc>
                <a:spcPts val="1523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</a:t>
            </a:r>
            <a:pPr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 GA identificou que apenas as duas primeiras eram necessárias para capturar a informação relevante.</a:t>
            </a:r>
            <a:endParaRPr lang="en-US" sz="1050" dirty="0"/>
          </a:p>
        </p:txBody>
      </p:sp>
      <p:sp>
        <p:nvSpPr>
          <p:cNvPr id="20" name="SK-8-text-19"/>
          <p:cNvSpPr/>
          <p:nvPr/>
        </p:nvSpPr>
        <p:spPr>
          <a:xfrm>
            <a:off x="7952482" y="4910286"/>
            <a:ext cx="334416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 Algoritmo Genético realiza uma seleção mais sofisticada que o ranking simples, otimizando o conjunto como um todo e não apenas features isoladas."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45840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558504" cy="209550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3465"/>
            <a:ext cx="6664672" cy="5491758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407765"/>
            <a:ext cx="6436072" cy="5263158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3822" y="1293465"/>
            <a:ext cx="4136678" cy="2639020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5272" y="1341090"/>
            <a:ext cx="381000" cy="381000"/>
          </a:xfrm>
          <a:prstGeom prst="rect">
            <a:avLst/>
          </a:prstGeom>
        </p:spPr>
      </p:pic>
      <p:pic>
        <p:nvPicPr>
          <p:cNvPr id="10" name="SK-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8616" y="1443930"/>
            <a:ext cx="214313" cy="175320"/>
          </a:xfrm>
          <a:prstGeom prst="rect">
            <a:avLst/>
          </a:prstGeom>
        </p:spPr>
      </p:pic>
      <p:pic>
        <p:nvPicPr>
          <p:cNvPr id="11" name="SK-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5272" y="1750665"/>
            <a:ext cx="3793778" cy="1009650"/>
          </a:xfrm>
          <a:prstGeom prst="rect">
            <a:avLst/>
          </a:prstGeom>
        </p:spPr>
      </p:pic>
      <p:pic>
        <p:nvPicPr>
          <p:cNvPr id="12" name="SK-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4824" y="2503140"/>
            <a:ext cx="1914525" cy="209550"/>
          </a:xfrm>
          <a:prstGeom prst="rect">
            <a:avLst/>
          </a:prstGeom>
        </p:spPr>
      </p:pic>
      <p:pic>
        <p:nvPicPr>
          <p:cNvPr id="13" name="SK-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9124" y="2550765"/>
            <a:ext cx="142875" cy="114300"/>
          </a:xfrm>
          <a:prstGeom prst="rect">
            <a:avLst/>
          </a:prstGeom>
        </p:spPr>
      </p:pic>
      <p:pic>
        <p:nvPicPr>
          <p:cNvPr id="14" name="SK-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55272" y="2788890"/>
            <a:ext cx="3793778" cy="204788"/>
          </a:xfrm>
          <a:prstGeom prst="rect">
            <a:avLst/>
          </a:prstGeom>
        </p:spPr>
      </p:pic>
      <p:pic>
        <p:nvPicPr>
          <p:cNvPr id="15" name="SK-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5272" y="3012728"/>
            <a:ext cx="3793778" cy="204788"/>
          </a:xfrm>
          <a:prstGeom prst="rect">
            <a:avLst/>
          </a:prstGeom>
        </p:spPr>
      </p:pic>
      <p:pic>
        <p:nvPicPr>
          <p:cNvPr id="16" name="SK-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55272" y="3236565"/>
            <a:ext cx="3793778" cy="204788"/>
          </a:xfrm>
          <a:prstGeom prst="rect">
            <a:avLst/>
          </a:prstGeom>
        </p:spPr>
      </p:pic>
      <p:pic>
        <p:nvPicPr>
          <p:cNvPr id="17" name="SK-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83822" y="3961061"/>
            <a:ext cx="4136678" cy="2824163"/>
          </a:xfrm>
          <a:prstGeom prst="rect">
            <a:avLst/>
          </a:prstGeom>
        </p:spPr>
      </p:pic>
      <p:pic>
        <p:nvPicPr>
          <p:cNvPr id="18" name="SK-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55272" y="3999161"/>
            <a:ext cx="381000" cy="381000"/>
          </a:xfrm>
          <a:prstGeom prst="rect">
            <a:avLst/>
          </a:prstGeom>
        </p:spPr>
      </p:pic>
      <p:pic>
        <p:nvPicPr>
          <p:cNvPr id="19" name="SK-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38616" y="4102001"/>
            <a:ext cx="214313" cy="175320"/>
          </a:xfrm>
          <a:prstGeom prst="rect">
            <a:avLst/>
          </a:prstGeom>
        </p:spPr>
      </p:pic>
      <p:pic>
        <p:nvPicPr>
          <p:cNvPr id="20" name="SK-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55272" y="4789736"/>
            <a:ext cx="3793778" cy="862013"/>
          </a:xfrm>
          <a:prstGeom prst="rect">
            <a:avLst/>
          </a:prstGeom>
        </p:spPr>
      </p:pic>
      <p:pic>
        <p:nvPicPr>
          <p:cNvPr id="21" name="SK-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55272" y="5670798"/>
            <a:ext cx="3793778" cy="438150"/>
          </a:xfrm>
          <a:prstGeom prst="rect">
            <a:avLst/>
          </a:prstGeom>
        </p:spPr>
      </p:pic>
      <p:pic>
        <p:nvPicPr>
          <p:cNvPr id="22" name="SK-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69572" y="5816947"/>
            <a:ext cx="166688" cy="145852"/>
          </a:xfrm>
          <a:prstGeom prst="rect">
            <a:avLst/>
          </a:prstGeom>
        </p:spPr>
      </p:pic>
      <p:sp>
        <p:nvSpPr>
          <p:cNvPr id="23" name="SK-9-text-22"/>
          <p:cNvSpPr/>
          <p:nvPr/>
        </p:nvSpPr>
        <p:spPr>
          <a:xfrm>
            <a:off x="647700" y="381000"/>
            <a:ext cx="4074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META-APRENDIZAGEM</a:t>
            </a:r>
            <a:endParaRPr lang="en-US" sz="900" dirty="0"/>
          </a:p>
        </p:txBody>
      </p:sp>
      <p:sp>
        <p:nvSpPr>
          <p:cNvPr id="24" name="SK-9-text-23"/>
          <p:cNvSpPr/>
          <p:nvPr/>
        </p:nvSpPr>
        <p:spPr>
          <a:xfrm>
            <a:off x="571500" y="666750"/>
            <a:ext cx="116205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</a:rPr>
              <a:t>Significância Estatística — Teste de Wilcoxon</a:t>
            </a:r>
            <a:endParaRPr lang="en-US" sz="2550" dirty="0"/>
          </a:p>
        </p:txBody>
      </p:sp>
      <p:sp>
        <p:nvSpPr>
          <p:cNvPr id="25" name="SK-9-text-24"/>
          <p:cNvSpPr/>
          <p:nvPr/>
        </p:nvSpPr>
        <p:spPr>
          <a:xfrm>
            <a:off x="8150572" y="1374428"/>
            <a:ext cx="404142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F172A"/>
                </a:solidFill>
              </a:rPr>
              <a:t>Resultado do Teste</a:t>
            </a:r>
            <a:endParaRPr lang="en-US" sz="1650" dirty="0"/>
          </a:p>
        </p:txBody>
      </p:sp>
      <p:sp>
        <p:nvSpPr>
          <p:cNvPr id="26" name="SK-9-text-25"/>
          <p:cNvSpPr/>
          <p:nvPr/>
        </p:nvSpPr>
        <p:spPr>
          <a:xfrm>
            <a:off x="7807672" y="1798290"/>
            <a:ext cx="34889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72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P-VALOR CALCULADO</a:t>
            </a:r>
            <a:endParaRPr lang="en-US" sz="900" dirty="0"/>
          </a:p>
        </p:txBody>
      </p:sp>
      <p:sp>
        <p:nvSpPr>
          <p:cNvPr id="27" name="SK-9-text-26"/>
          <p:cNvSpPr/>
          <p:nvPr/>
        </p:nvSpPr>
        <p:spPr>
          <a:xfrm>
            <a:off x="7721947" y="1988790"/>
            <a:ext cx="366042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0F172A"/>
                </a:solidFill>
              </a:rPr>
              <a:t>0.232</a:t>
            </a:r>
            <a:endParaRPr lang="en-US" sz="3900" dirty="0"/>
          </a:p>
        </p:txBody>
      </p:sp>
      <p:sp>
        <p:nvSpPr>
          <p:cNvPr id="28" name="SK-9-text-27"/>
          <p:cNvSpPr/>
          <p:nvPr/>
        </p:nvSpPr>
        <p:spPr>
          <a:xfrm>
            <a:off x="8871049" y="2503140"/>
            <a:ext cx="140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Significativo (p &gt; 0.05)</a:t>
            </a:r>
            <a:endParaRPr lang="en-US" sz="900" dirty="0"/>
          </a:p>
        </p:txBody>
      </p:sp>
      <p:sp>
        <p:nvSpPr>
          <p:cNvPr id="29" name="SK-9-text-28"/>
          <p:cNvSpPr/>
          <p:nvPr/>
        </p:nvSpPr>
        <p:spPr>
          <a:xfrm>
            <a:off x="7655272" y="2788890"/>
            <a:ext cx="26022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 Estatístico</a:t>
            </a:r>
            <a:endParaRPr lang="en-US" sz="975" dirty="0"/>
          </a:p>
        </p:txBody>
      </p:sp>
      <p:sp>
        <p:nvSpPr>
          <p:cNvPr id="30" name="SK-9-text-29"/>
          <p:cNvSpPr/>
          <p:nvPr/>
        </p:nvSpPr>
        <p:spPr>
          <a:xfrm>
            <a:off x="10125075" y="2788890"/>
            <a:ext cx="20669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Wilcoxon Signed-Rank</a:t>
            </a:r>
            <a:endParaRPr lang="en-US" sz="975" dirty="0"/>
          </a:p>
        </p:txBody>
      </p:sp>
      <p:sp>
        <p:nvSpPr>
          <p:cNvPr id="31" name="SK-9-text-30"/>
          <p:cNvSpPr/>
          <p:nvPr/>
        </p:nvSpPr>
        <p:spPr>
          <a:xfrm>
            <a:off x="7655272" y="3012728"/>
            <a:ext cx="15621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</a:t>
            </a:r>
            <a:endParaRPr lang="en-US" sz="975" dirty="0"/>
          </a:p>
        </p:txBody>
      </p:sp>
      <p:sp>
        <p:nvSpPr>
          <p:cNvPr id="32" name="SK-9-text-31"/>
          <p:cNvSpPr/>
          <p:nvPr/>
        </p:nvSpPr>
        <p:spPr>
          <a:xfrm>
            <a:off x="10248900" y="3012728"/>
            <a:ext cx="19431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vs. Pós-GA</a:t>
            </a:r>
            <a:endParaRPr lang="en-US" sz="975" dirty="0"/>
          </a:p>
        </p:txBody>
      </p:sp>
      <p:sp>
        <p:nvSpPr>
          <p:cNvPr id="33" name="SK-9-text-32"/>
          <p:cNvSpPr/>
          <p:nvPr/>
        </p:nvSpPr>
        <p:spPr>
          <a:xfrm>
            <a:off x="7655272" y="3236565"/>
            <a:ext cx="14135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</a:t>
            </a:r>
            <a:endParaRPr lang="en-US" sz="975" dirty="0"/>
          </a:p>
        </p:txBody>
      </p:sp>
      <p:sp>
        <p:nvSpPr>
          <p:cNvPr id="34" name="SK-9-text-33"/>
          <p:cNvSpPr/>
          <p:nvPr/>
        </p:nvSpPr>
        <p:spPr>
          <a:xfrm>
            <a:off x="10029825" y="3236565"/>
            <a:ext cx="21621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10-fold Cross-Validation</a:t>
            </a:r>
            <a:endParaRPr lang="en-US" sz="975" dirty="0"/>
          </a:p>
        </p:txBody>
      </p:sp>
      <p:sp>
        <p:nvSpPr>
          <p:cNvPr id="35" name="SK-9-text-34"/>
          <p:cNvSpPr/>
          <p:nvPr/>
        </p:nvSpPr>
        <p:spPr>
          <a:xfrm>
            <a:off x="8150572" y="4032498"/>
            <a:ext cx="404142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F172A"/>
                </a:solidFill>
              </a:rPr>
              <a:t>Análise de Poder</a:t>
            </a:r>
            <a:endParaRPr lang="en-US" sz="1650" dirty="0"/>
          </a:p>
        </p:txBody>
      </p:sp>
      <p:sp>
        <p:nvSpPr>
          <p:cNvPr id="36" name="SK-9-text-35"/>
          <p:cNvSpPr/>
          <p:nvPr/>
        </p:nvSpPr>
        <p:spPr>
          <a:xfrm>
            <a:off x="7655272" y="4399211"/>
            <a:ext cx="379377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Embora o Algoritmo Genético tenha reduzido o erro médio, a melhoria não atingiu o limiar de significância estatística de 5%.</a:t>
            </a:r>
            <a:endParaRPr lang="en-US" sz="975" dirty="0"/>
          </a:p>
        </p:txBody>
      </p:sp>
      <p:sp>
        <p:nvSpPr>
          <p:cNvPr id="37" name="SK-9-text-36"/>
          <p:cNvSpPr/>
          <p:nvPr/>
        </p:nvSpPr>
        <p:spPr>
          <a:xfrm>
            <a:off x="7845772" y="4818311"/>
            <a:ext cx="4346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Limitação do Meta-dataset</a:t>
            </a:r>
            <a:endParaRPr lang="en-US" sz="1200" dirty="0"/>
          </a:p>
        </p:txBody>
      </p:sp>
      <p:sp>
        <p:nvSpPr>
          <p:cNvPr id="38" name="SK-9-text-37"/>
          <p:cNvSpPr/>
          <p:nvPr/>
        </p:nvSpPr>
        <p:spPr>
          <a:xfrm>
            <a:off x="7845772" y="5065961"/>
            <a:ext cx="341277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tamanho da amostra (N=35 datasets) limita o poder estatístico do teste, dificultando a rejeição da hipótese nula apesar da tendência observada.</a:t>
            </a:r>
            <a:endParaRPr lang="en-US" sz="975" dirty="0"/>
          </a:p>
        </p:txBody>
      </p:sp>
      <p:sp>
        <p:nvSpPr>
          <p:cNvPr id="39" name="SK-9-text-38"/>
          <p:cNvSpPr/>
          <p:nvPr/>
        </p:nvSpPr>
        <p:spPr>
          <a:xfrm>
            <a:off x="8050560" y="5689848"/>
            <a:ext cx="32841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tendência de melhora é consistente em todas as folds</a:t>
            </a:r>
            <a:endParaRPr lang="en-US" sz="1050" dirty="0"/>
          </a:p>
        </p:txBody>
      </p:sp>
      <p:sp>
        <p:nvSpPr>
          <p:cNvPr id="40" name="SK-9-text-39"/>
          <p:cNvSpPr/>
          <p:nvPr/>
        </p:nvSpPr>
        <p:spPr>
          <a:xfrm>
            <a:off x="7655272" y="6147048"/>
            <a:ext cx="379377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a expansão do meta-dataset para um volume maior de dados, espera-se que a diferença de performance se torne estatisticamente robusta.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45840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1000"/>
            <a:ext cx="2558504" cy="209550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69690"/>
            <a:ext cx="419100" cy="419100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1629966"/>
            <a:ext cx="285750" cy="233660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2657326"/>
            <a:ext cx="10972800" cy="9525"/>
          </a:xfrm>
          <a:prstGeom prst="rect">
            <a:avLst/>
          </a:prstGeom>
        </p:spPr>
      </p:pic>
      <p:pic>
        <p:nvPicPr>
          <p:cNvPr id="9" name="SK-1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885926"/>
            <a:ext cx="419100" cy="419100"/>
          </a:xfrm>
          <a:prstGeom prst="rect">
            <a:avLst/>
          </a:prstGeom>
        </p:spPr>
      </p:pic>
      <p:pic>
        <p:nvPicPr>
          <p:cNvPr id="10" name="SK-1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3500" y="2946202"/>
            <a:ext cx="285750" cy="233660"/>
          </a:xfrm>
          <a:prstGeom prst="rect">
            <a:avLst/>
          </a:prstGeom>
        </p:spPr>
      </p:pic>
      <p:pic>
        <p:nvPicPr>
          <p:cNvPr id="11" name="SK-1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200" y="3973562"/>
            <a:ext cx="10972800" cy="9525"/>
          </a:xfrm>
          <a:prstGeom prst="rect">
            <a:avLst/>
          </a:prstGeom>
        </p:spPr>
      </p:pic>
      <p:pic>
        <p:nvPicPr>
          <p:cNvPr id="12" name="SK-1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202162"/>
            <a:ext cx="419100" cy="419100"/>
          </a:xfrm>
          <a:prstGeom prst="rect">
            <a:avLst/>
          </a:prstGeom>
        </p:spPr>
      </p:pic>
      <p:pic>
        <p:nvPicPr>
          <p:cNvPr id="13" name="SK-1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3500" y="4262438"/>
            <a:ext cx="285750" cy="233660"/>
          </a:xfrm>
          <a:prstGeom prst="rect">
            <a:avLst/>
          </a:prstGeom>
        </p:spPr>
      </p:pic>
      <p:pic>
        <p:nvPicPr>
          <p:cNvPr id="14" name="SK-1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9200" y="5289798"/>
            <a:ext cx="10972800" cy="9525"/>
          </a:xfrm>
          <a:prstGeom prst="rect">
            <a:avLst/>
          </a:prstGeom>
        </p:spPr>
      </p:pic>
      <p:pic>
        <p:nvPicPr>
          <p:cNvPr id="15" name="SK-1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5518398"/>
            <a:ext cx="419100" cy="419100"/>
          </a:xfrm>
          <a:prstGeom prst="rect">
            <a:avLst/>
          </a:prstGeom>
        </p:spPr>
      </p:pic>
      <p:pic>
        <p:nvPicPr>
          <p:cNvPr id="16" name="SK-1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33500" y="5578673"/>
            <a:ext cx="285750" cy="233660"/>
          </a:xfrm>
          <a:prstGeom prst="rect">
            <a:avLst/>
          </a:prstGeom>
        </p:spPr>
      </p:pic>
      <p:sp>
        <p:nvSpPr>
          <p:cNvPr id="17" name="SK-10-text-16"/>
          <p:cNvSpPr/>
          <p:nvPr/>
        </p:nvSpPr>
        <p:spPr>
          <a:xfrm>
            <a:off x="647700" y="381000"/>
            <a:ext cx="40748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META-APRENDIZAGEM</a:t>
            </a:r>
            <a:endParaRPr lang="en-US" sz="900" dirty="0"/>
          </a:p>
        </p:txBody>
      </p:sp>
      <p:sp>
        <p:nvSpPr>
          <p:cNvPr id="18" name="SK-10-text-17"/>
          <p:cNvSpPr/>
          <p:nvPr/>
        </p:nvSpPr>
        <p:spPr>
          <a:xfrm>
            <a:off x="571500" y="666750"/>
            <a:ext cx="116205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0F172A"/>
                </a:solidFill>
              </a:rPr>
              <a:t>Conclusões e Trabalhos Futuros</a:t>
            </a:r>
            <a:endParaRPr lang="en-US" sz="2550" dirty="0"/>
          </a:p>
        </p:txBody>
      </p:sp>
      <p:sp>
        <p:nvSpPr>
          <p:cNvPr id="19" name="SK-10-text-18"/>
          <p:cNvSpPr/>
          <p:nvPr/>
        </p:nvSpPr>
        <p:spPr>
          <a:xfrm>
            <a:off x="800100" y="1569690"/>
            <a:ext cx="85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20" name="SK-10-text-19"/>
          <p:cNvSpPr/>
          <p:nvPr/>
        </p:nvSpPr>
        <p:spPr>
          <a:xfrm>
            <a:off x="1714500" y="1598265"/>
            <a:ext cx="1042416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F172A"/>
                </a:solidFill>
              </a:rPr>
              <a:t>Otimização e Eficiência do Meta-modelo</a:t>
            </a:r>
            <a:endParaRPr lang="en-US" sz="1800" dirty="0"/>
          </a:p>
        </p:txBody>
      </p:sp>
      <p:sp>
        <p:nvSpPr>
          <p:cNvPr id="21" name="SK-10-text-20"/>
          <p:cNvSpPr/>
          <p:nvPr/>
        </p:nvSpPr>
        <p:spPr>
          <a:xfrm>
            <a:off x="1333500" y="1923901"/>
            <a:ext cx="10172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expansão para 224 features elevou a correlação de Spearman de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0.30 para 0.76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 Algoritmo Genético reduziu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49,1% das features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(114 selecionadas) garantindo uma melhoria de 11,3% no RMSE.</a:t>
            </a:r>
            <a:endParaRPr lang="en-US" sz="1350" dirty="0"/>
          </a:p>
        </p:txBody>
      </p:sp>
      <p:sp>
        <p:nvSpPr>
          <p:cNvPr id="22" name="SK-10-text-21"/>
          <p:cNvSpPr/>
          <p:nvPr/>
        </p:nvSpPr>
        <p:spPr>
          <a:xfrm>
            <a:off x="781050" y="2885926"/>
            <a:ext cx="85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23" name="SK-10-text-22"/>
          <p:cNvSpPr/>
          <p:nvPr/>
        </p:nvSpPr>
        <p:spPr>
          <a:xfrm>
            <a:off x="1714500" y="2914501"/>
            <a:ext cx="1047750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F172A"/>
                </a:solidFill>
              </a:rPr>
              <a:t>Superioridade na Detecção de Redundância</a:t>
            </a:r>
            <a:endParaRPr lang="en-US" sz="1800" dirty="0"/>
          </a:p>
        </p:txBody>
      </p:sp>
      <p:sp>
        <p:nvSpPr>
          <p:cNvPr id="24" name="SK-10-text-23"/>
          <p:cNvSpPr/>
          <p:nvPr/>
        </p:nvSpPr>
        <p:spPr>
          <a:xfrm>
            <a:off x="1333500" y="3240137"/>
            <a:ext cx="10172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GA superou rankings simples de importância ao descartar automaticamente features altamente correlacionadas no grupo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realizando uma seleção mais sofisticada que prioriza a diversidade de informação.</a:t>
            </a:r>
            <a:endParaRPr lang="en-US" sz="1350" dirty="0"/>
          </a:p>
        </p:txBody>
      </p:sp>
      <p:sp>
        <p:nvSpPr>
          <p:cNvPr id="25" name="SK-10-text-24"/>
          <p:cNvSpPr/>
          <p:nvPr/>
        </p:nvSpPr>
        <p:spPr>
          <a:xfrm>
            <a:off x="781050" y="4202162"/>
            <a:ext cx="85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6" name="SK-10-text-25"/>
          <p:cNvSpPr/>
          <p:nvPr/>
        </p:nvSpPr>
        <p:spPr>
          <a:xfrm>
            <a:off x="1714500" y="4230737"/>
            <a:ext cx="1017270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F172A"/>
                </a:solidFill>
              </a:rPr>
              <a:t>Especialização Algorítmica Confirmada</a:t>
            </a:r>
            <a:endParaRPr lang="en-US" sz="1800" dirty="0"/>
          </a:p>
        </p:txBody>
      </p:sp>
      <p:sp>
        <p:nvSpPr>
          <p:cNvPr id="27" name="SK-10-text-26"/>
          <p:cNvSpPr/>
          <p:nvPr/>
        </p:nvSpPr>
        <p:spPr>
          <a:xfrm>
            <a:off x="1333500" y="4556373"/>
            <a:ext cx="10172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seleção ótima de meta-features é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específica para o algoritmo-alvo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(meta-modelo). Não existe um subconjunto universal, reforçando a necessidade de otimização dedicada para cada tarefa de meta-aprendizagem.</a:t>
            </a:r>
            <a:endParaRPr lang="en-US" sz="1350" dirty="0"/>
          </a:p>
        </p:txBody>
      </p:sp>
      <p:sp>
        <p:nvSpPr>
          <p:cNvPr id="28" name="SK-10-text-27"/>
          <p:cNvSpPr/>
          <p:nvPr/>
        </p:nvSpPr>
        <p:spPr>
          <a:xfrm>
            <a:off x="776288" y="5518398"/>
            <a:ext cx="85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9" name="SK-10-text-28"/>
          <p:cNvSpPr/>
          <p:nvPr/>
        </p:nvSpPr>
        <p:spPr>
          <a:xfrm>
            <a:off x="1714500" y="5546973"/>
            <a:ext cx="1017270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0F172A"/>
                </a:solidFill>
              </a:rPr>
              <a:t>Limitações e Propostas Futuras</a:t>
            </a:r>
            <a:endParaRPr lang="en-US" sz="1800" dirty="0"/>
          </a:p>
        </p:txBody>
      </p:sp>
      <p:sp>
        <p:nvSpPr>
          <p:cNvPr id="30" name="SK-10-text-29"/>
          <p:cNvSpPr/>
          <p:nvPr/>
        </p:nvSpPr>
        <p:spPr>
          <a:xfrm>
            <a:off x="1333500" y="5872609"/>
            <a:ext cx="10172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amostra de 35 datasets limitou a significância estatística (p=0.232). Trabalhos futuros devem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ampliar o meta-dataset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explorar variantes de GA multiobjetivo para equilibrar erro e complexidade do modelo.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2026-06-28T08:11:05Z</dcterms:created>
  <dcterms:modified xsi:type="dcterms:W3CDTF">2026-06-28T08:11:05Z</dcterms:modified>
</cp:coreProperties>
</file>